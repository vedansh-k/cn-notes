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8" r:id="rId2"/>
    <p:sldId id="256" r:id="rId3"/>
    <p:sldId id="302" r:id="rId4"/>
    <p:sldId id="257" r:id="rId5"/>
    <p:sldId id="258" r:id="rId6"/>
    <p:sldId id="259" r:id="rId7"/>
    <p:sldId id="260" r:id="rId8"/>
    <p:sldId id="261" r:id="rId9"/>
    <p:sldId id="329" r:id="rId10"/>
    <p:sldId id="262" r:id="rId11"/>
    <p:sldId id="330" r:id="rId12"/>
    <p:sldId id="263" r:id="rId13"/>
    <p:sldId id="331"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303"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332"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4" r:id="rId55"/>
    <p:sldId id="310" r:id="rId56"/>
    <p:sldId id="306" r:id="rId57"/>
    <p:sldId id="307" r:id="rId58"/>
    <p:sldId id="308" r:id="rId59"/>
    <p:sldId id="309" r:id="rId60"/>
    <p:sldId id="311" r:id="rId61"/>
    <p:sldId id="312" r:id="rId62"/>
    <p:sldId id="315" r:id="rId63"/>
    <p:sldId id="316" r:id="rId64"/>
    <p:sldId id="318" r:id="rId65"/>
    <p:sldId id="313" r:id="rId66"/>
    <p:sldId id="314" r:id="rId67"/>
    <p:sldId id="319" r:id="rId68"/>
    <p:sldId id="320" r:id="rId69"/>
    <p:sldId id="321" r:id="rId70"/>
    <p:sldId id="322" r:id="rId71"/>
    <p:sldId id="323" r:id="rId72"/>
    <p:sldId id="324" r:id="rId73"/>
    <p:sldId id="325" r:id="rId74"/>
    <p:sldId id="326" r:id="rId75"/>
    <p:sldId id="327" r:id="rId76"/>
    <p:sldId id="333"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4" d="100"/>
          <a:sy n="64" d="100"/>
        </p:scale>
        <p:origin x="-1566" y="-18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18EEB0-0D70-4718-BA8F-9A7E4CF878E4}" type="datetimeFigureOut">
              <a:rPr lang="en-US" smtClean="0"/>
              <a:pPr/>
              <a:t>6/26/2021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2250F84-393F-4CB1-A0BC-E872AB05D790}"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8EEB0-0D70-4718-BA8F-9A7E4CF878E4}" type="datetimeFigureOut">
              <a:rPr lang="en-US" smtClean="0"/>
              <a:pPr/>
              <a:t>6/26/2021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50F84-393F-4CB1-A0BC-E872AB05D790}"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Module - 4</a:t>
            </a:r>
            <a:endParaRPr lang="en-IN" dirty="0"/>
          </a:p>
        </p:txBody>
      </p:sp>
      <p:sp>
        <p:nvSpPr>
          <p:cNvPr id="3" name="Content Placeholder 2"/>
          <p:cNvSpPr>
            <a:spLocks noGrp="1"/>
          </p:cNvSpPr>
          <p:nvPr>
            <p:ph idx="1"/>
          </p:nvPr>
        </p:nvSpPr>
        <p:spPr/>
        <p:txBody>
          <a:bodyPr>
            <a:normAutofit fontScale="92500" lnSpcReduction="20000"/>
          </a:bodyPr>
          <a:lstStyle/>
          <a:p>
            <a:pPr marL="0" indent="0" algn="ctr">
              <a:buNone/>
            </a:pPr>
            <a:endParaRPr lang="en-IN" b="1" dirty="0" smtClean="0"/>
          </a:p>
          <a:p>
            <a:pPr marL="0" indent="0" algn="ctr">
              <a:buNone/>
            </a:pPr>
            <a:endParaRPr lang="en-IN" b="1" dirty="0"/>
          </a:p>
          <a:p>
            <a:pPr marL="0" indent="0" algn="ctr">
              <a:buNone/>
            </a:pPr>
            <a:endParaRPr lang="en-IN" b="1" dirty="0" smtClean="0"/>
          </a:p>
          <a:p>
            <a:pPr marL="0" indent="0" algn="ctr">
              <a:buNone/>
            </a:pPr>
            <a:r>
              <a:rPr lang="en-IN" sz="6500" b="1" dirty="0" smtClean="0"/>
              <a:t>Media Access Control</a:t>
            </a:r>
          </a:p>
          <a:p>
            <a:pPr marL="0" indent="0" algn="ctr">
              <a:buNone/>
            </a:pPr>
            <a:endParaRPr lang="en-IN" b="1" dirty="0"/>
          </a:p>
          <a:p>
            <a:pPr marL="0" indent="0" algn="ctr">
              <a:buNone/>
            </a:pPr>
            <a:endParaRPr lang="en-IN" b="1" dirty="0" smtClean="0"/>
          </a:p>
          <a:p>
            <a:pPr marL="0" indent="0" algn="ctr">
              <a:buNone/>
            </a:pPr>
            <a:endParaRPr lang="en-IN" b="1" dirty="0"/>
          </a:p>
          <a:p>
            <a:pPr marL="0" indent="0" algn="ctr">
              <a:buNone/>
            </a:pPr>
            <a:r>
              <a:rPr lang="en-IN" b="1" dirty="0" smtClean="0"/>
              <a:t>                                                   </a:t>
            </a:r>
          </a:p>
          <a:p>
            <a:pPr marL="0" indent="0" algn="ctr">
              <a:buNone/>
            </a:pPr>
            <a:endParaRPr lang="en-IN" sz="2200" b="1" dirty="0"/>
          </a:p>
        </p:txBody>
      </p:sp>
    </p:spTree>
    <p:extLst>
      <p:ext uri="{BB962C8B-B14F-4D97-AF65-F5344CB8AC3E}">
        <p14:creationId xmlns="" xmlns:p14="http://schemas.microsoft.com/office/powerpoint/2010/main" val="21700565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458200" cy="838200"/>
          </a:xfrm>
        </p:spPr>
        <p:txBody>
          <a:bodyPr>
            <a:normAutofit/>
          </a:bodyPr>
          <a:lstStyle/>
          <a:p>
            <a:r>
              <a:rPr lang="en-US" dirty="0" smtClean="0">
                <a:latin typeface="Times New Roman" pitchFamily="18" charset="0"/>
                <a:cs typeface="Times New Roman" pitchFamily="18" charset="0"/>
              </a:rPr>
              <a:t>Media Access Control</a:t>
            </a:r>
            <a:endParaRPr lang="en-US" dirty="0">
              <a:latin typeface="Times New Roman" pitchFamily="18" charset="0"/>
              <a:cs typeface="Times New Roman" pitchFamily="18" charset="0"/>
            </a:endParaRPr>
          </a:p>
        </p:txBody>
      </p:sp>
      <p:sp>
        <p:nvSpPr>
          <p:cNvPr id="5" name="Content Placeholder 4"/>
          <p:cNvSpPr>
            <a:spLocks noGrp="1"/>
          </p:cNvSpPr>
          <p:nvPr>
            <p:ph idx="1"/>
          </p:nvPr>
        </p:nvSpPr>
        <p:spPr>
          <a:xfrm>
            <a:off x="228600" y="685800"/>
            <a:ext cx="8915400" cy="6019800"/>
          </a:xfrm>
        </p:spPr>
        <p:txBody>
          <a:bodyPr/>
          <a:lstStyle/>
          <a:p>
            <a:r>
              <a:rPr lang="en-US" dirty="0" smtClean="0">
                <a:latin typeface="Times New Roman" pitchFamily="18" charset="0"/>
                <a:cs typeface="Times New Roman" pitchFamily="18" charset="0"/>
              </a:rPr>
              <a:t>The stations </a:t>
            </a:r>
            <a:r>
              <a:rPr lang="en-US" dirty="0">
                <a:latin typeface="Times New Roman" pitchFamily="18" charset="0"/>
                <a:cs typeface="Times New Roman" pitchFamily="18" charset="0"/>
              </a:rPr>
              <a:t>are connected and use a common </a:t>
            </a:r>
            <a:r>
              <a:rPr lang="en-US" dirty="0" smtClean="0">
                <a:latin typeface="Times New Roman" pitchFamily="18" charset="0"/>
                <a:cs typeface="Times New Roman" pitchFamily="18" charset="0"/>
              </a:rPr>
              <a:t>link called </a:t>
            </a:r>
            <a:r>
              <a:rPr lang="en-US" dirty="0">
                <a:latin typeface="Times New Roman" pitchFamily="18" charset="0"/>
                <a:cs typeface="Times New Roman" pitchFamily="18" charset="0"/>
              </a:rPr>
              <a:t>a multipoint </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It needs </a:t>
            </a:r>
            <a:r>
              <a:rPr lang="en-US" dirty="0">
                <a:latin typeface="Times New Roman" pitchFamily="18" charset="0"/>
                <a:cs typeface="Times New Roman" pitchFamily="18" charset="0"/>
              </a:rPr>
              <a:t>a multiple-access protocol to </a:t>
            </a:r>
            <a:r>
              <a:rPr lang="en-US" dirty="0" smtClean="0">
                <a:latin typeface="Times New Roman" pitchFamily="18" charset="0"/>
                <a:cs typeface="Times New Roman" pitchFamily="18" charset="0"/>
              </a:rPr>
              <a:t>coordinate </a:t>
            </a:r>
            <a:r>
              <a:rPr lang="en-US" dirty="0">
                <a:latin typeface="Times New Roman" pitchFamily="18" charset="0"/>
                <a:cs typeface="Times New Roman" pitchFamily="18" charset="0"/>
              </a:rPr>
              <a:t>access to the link</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The protocols </a:t>
            </a:r>
            <a:r>
              <a:rPr lang="en-US" dirty="0">
                <a:latin typeface="Times New Roman" pitchFamily="18" charset="0"/>
                <a:cs typeface="Times New Roman" pitchFamily="18" charset="0"/>
              </a:rPr>
              <a:t>belong to a </a:t>
            </a:r>
            <a:r>
              <a:rPr lang="en-US" dirty="0" smtClean="0">
                <a:latin typeface="Times New Roman" pitchFamily="18" charset="0"/>
                <a:cs typeface="Times New Roman" pitchFamily="18" charset="0"/>
              </a:rPr>
              <a:t>sub layer </a:t>
            </a:r>
            <a:r>
              <a:rPr lang="en-US" dirty="0">
                <a:latin typeface="Times New Roman" pitchFamily="18" charset="0"/>
                <a:cs typeface="Times New Roman" pitchFamily="18" charset="0"/>
              </a:rPr>
              <a:t>in the </a:t>
            </a:r>
            <a:r>
              <a:rPr lang="en-US" dirty="0" smtClean="0">
                <a:latin typeface="Times New Roman" pitchFamily="18" charset="0"/>
                <a:cs typeface="Times New Roman" pitchFamily="18" charset="0"/>
              </a:rPr>
              <a:t>data-link </a:t>
            </a:r>
            <a:r>
              <a:rPr lang="en-US" dirty="0">
                <a:latin typeface="Times New Roman" pitchFamily="18" charset="0"/>
                <a:cs typeface="Times New Roman" pitchFamily="18" charset="0"/>
              </a:rPr>
              <a:t>layer </a:t>
            </a:r>
            <a:r>
              <a:rPr lang="en-US" dirty="0" smtClean="0">
                <a:latin typeface="Times New Roman" pitchFamily="18" charset="0"/>
                <a:cs typeface="Times New Roman" pitchFamily="18" charset="0"/>
              </a:rPr>
              <a:t>called </a:t>
            </a:r>
            <a:r>
              <a:rPr lang="en-US" i="1" dirty="0" smtClean="0">
                <a:latin typeface="Times New Roman" pitchFamily="18" charset="0"/>
                <a:cs typeface="Times New Roman" pitchFamily="18" charset="0"/>
              </a:rPr>
              <a:t>Media Access Control </a:t>
            </a:r>
            <a:r>
              <a:rPr lang="en-US" i="1" dirty="0">
                <a:latin typeface="Times New Roman" pitchFamily="18" charset="0"/>
                <a:cs typeface="Times New Roman" pitchFamily="18" charset="0"/>
              </a:rPr>
              <a:t>(MAC</a:t>
            </a:r>
            <a:r>
              <a:rPr lang="en-US" i="1" dirty="0" smtClean="0">
                <a:latin typeface="Times New Roman" pitchFamily="18" charset="0"/>
                <a:cs typeface="Times New Roman" pitchFamily="18" charset="0"/>
              </a:rPr>
              <a:t>).</a:t>
            </a:r>
          </a:p>
          <a:p>
            <a:pPr>
              <a:buNone/>
            </a:pPr>
            <a:endParaRPr lang="en-US" dirty="0">
              <a:latin typeface="Times New Roman" pitchFamily="18" charset="0"/>
              <a:cs typeface="Times New Roman" pitchFamily="18" charset="0"/>
            </a:endParaRPr>
          </a:p>
        </p:txBody>
      </p:sp>
      <p:pic>
        <p:nvPicPr>
          <p:cNvPr id="6" name="Picture 7"/>
          <p:cNvPicPr>
            <a:picLocks noChangeAspect="1" noChangeArrowheads="1"/>
          </p:cNvPicPr>
          <p:nvPr/>
        </p:nvPicPr>
        <p:blipFill>
          <a:blip r:embed="rId2" cstate="print"/>
          <a:srcRect/>
          <a:stretch>
            <a:fillRect/>
          </a:stretch>
        </p:blipFill>
        <p:spPr bwMode="auto">
          <a:xfrm>
            <a:off x="1828800" y="3962400"/>
            <a:ext cx="5375275" cy="2533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aseline="0" dirty="0" smtClean="0">
                <a:latin typeface="Times New Roman" pitchFamily="18" charset="0"/>
                <a:cs typeface="Times New Roman" pitchFamily="18" charset="0"/>
              </a:rPr>
              <a:t>Multiple-Access Protocols</a:t>
            </a:r>
            <a:endParaRPr lang="en-US" dirty="0">
              <a:latin typeface="Times New Roman" pitchFamily="18" charset="0"/>
              <a:cs typeface="Times New Roman" pitchFamily="18" charset="0"/>
            </a:endParaRPr>
          </a:p>
        </p:txBody>
      </p:sp>
      <p:pic>
        <p:nvPicPr>
          <p:cNvPr id="4" name="Picture 7"/>
          <p:cNvPicPr>
            <a:picLocks noGrp="1" noChangeAspect="1" noChangeArrowheads="1"/>
          </p:cNvPicPr>
          <p:nvPr>
            <p:ph idx="1"/>
          </p:nvPr>
        </p:nvPicPr>
        <p:blipFill>
          <a:blip r:embed="rId2" cstate="print"/>
          <a:srcRect/>
          <a:stretch>
            <a:fillRect/>
          </a:stretch>
        </p:blipFill>
        <p:spPr bwMode="auto">
          <a:xfrm>
            <a:off x="304800" y="1143001"/>
            <a:ext cx="8534400" cy="510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sz="4000" dirty="0" smtClean="0">
                <a:latin typeface="Times New Roman" pitchFamily="18" charset="0"/>
                <a:cs typeface="Times New Roman" pitchFamily="18" charset="0"/>
              </a:rPr>
              <a:t>Random  Access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686800" cy="5715000"/>
          </a:xfrm>
        </p:spPr>
        <p:txBody>
          <a:bodyPr>
            <a:normAutofit fontScale="92500" lnSpcReduction="10000"/>
          </a:bodyPr>
          <a:lstStyle/>
          <a:p>
            <a:r>
              <a:rPr lang="en-US" baseline="0" dirty="0" smtClean="0">
                <a:latin typeface="Times New Roman" pitchFamily="18" charset="0"/>
                <a:cs typeface="Times New Roman" pitchFamily="18" charset="0"/>
              </a:rPr>
              <a:t>In random access methods, no station is superior to another station and none is assigned the control over another. </a:t>
            </a:r>
          </a:p>
          <a:p>
            <a:r>
              <a:rPr lang="en-US" baseline="0" dirty="0" smtClean="0">
                <a:latin typeface="Times New Roman" pitchFamily="18" charset="0"/>
                <a:cs typeface="Times New Roman" pitchFamily="18" charset="0"/>
              </a:rPr>
              <a:t>No station permits, or does not permit, another station to send.</a:t>
            </a:r>
          </a:p>
          <a:p>
            <a:r>
              <a:rPr lang="en-US" baseline="0" dirty="0" smtClean="0">
                <a:latin typeface="Times New Roman" pitchFamily="18" charset="0"/>
                <a:cs typeface="Times New Roman" pitchFamily="18" charset="0"/>
              </a:rPr>
              <a:t>A station that has data to send uses a procedure defined by the protocol to make a decision on whether or not to send. </a:t>
            </a:r>
          </a:p>
          <a:p>
            <a:r>
              <a:rPr lang="en-US" dirty="0" smtClean="0">
                <a:latin typeface="Times New Roman" pitchFamily="18" charset="0"/>
                <a:cs typeface="Times New Roman" pitchFamily="18" charset="0"/>
              </a:rPr>
              <a:t>Two </a:t>
            </a:r>
            <a:r>
              <a:rPr lang="en-US" dirty="0">
                <a:latin typeface="Times New Roman" pitchFamily="18" charset="0"/>
                <a:cs typeface="Times New Roman" pitchFamily="18" charset="0"/>
              </a:rPr>
              <a:t>features </a:t>
            </a:r>
            <a:r>
              <a:rPr lang="en-US" dirty="0" smtClean="0">
                <a:latin typeface="Times New Roman" pitchFamily="18" charset="0"/>
                <a:cs typeface="Times New Roman" pitchFamily="18" charset="0"/>
              </a:rPr>
              <a:t>make a random access name:</a:t>
            </a:r>
          </a:p>
          <a:p>
            <a:pPr lvl="1"/>
            <a:r>
              <a:rPr lang="en-US" dirty="0" smtClean="0">
                <a:latin typeface="Times New Roman" pitchFamily="18" charset="0"/>
                <a:cs typeface="Times New Roman" pitchFamily="18" charset="0"/>
              </a:rPr>
              <a:t>Transmission is random </a:t>
            </a:r>
            <a:r>
              <a:rPr lang="en-US" dirty="0">
                <a:latin typeface="Times New Roman" pitchFamily="18" charset="0"/>
                <a:cs typeface="Times New Roman" pitchFamily="18" charset="0"/>
              </a:rPr>
              <a:t>among the </a:t>
            </a:r>
            <a:r>
              <a:rPr lang="en-US" dirty="0" smtClean="0">
                <a:latin typeface="Times New Roman" pitchFamily="18" charset="0"/>
                <a:cs typeface="Times New Roman" pitchFamily="18" charset="0"/>
              </a:rPr>
              <a:t>stations.</a:t>
            </a:r>
          </a:p>
          <a:p>
            <a:pPr lvl="1"/>
            <a:r>
              <a:rPr lang="en-US" dirty="0" smtClean="0">
                <a:latin typeface="Times New Roman" pitchFamily="18" charset="0"/>
                <a:cs typeface="Times New Roman" pitchFamily="18" charset="0"/>
              </a:rPr>
              <a:t>Stations </a:t>
            </a:r>
            <a:r>
              <a:rPr lang="en-US" dirty="0">
                <a:latin typeface="Times New Roman" pitchFamily="18" charset="0"/>
                <a:cs typeface="Times New Roman" pitchFamily="18" charset="0"/>
              </a:rPr>
              <a:t>compete with one another to access </a:t>
            </a:r>
            <a:endParaRPr lang="en-US" dirty="0" smtClean="0">
              <a:latin typeface="Times New Roman" pitchFamily="18" charset="0"/>
              <a:cs typeface="Times New Roman" pitchFamily="18" charset="0"/>
            </a:endParaRPr>
          </a:p>
          <a:p>
            <a:pPr lvl="1">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the medium</a:t>
            </a:r>
            <a:r>
              <a:rPr lang="en-US" dirty="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763000" cy="5562600"/>
          </a:xfrm>
        </p:spPr>
        <p:txBody>
          <a:bodyPr>
            <a:normAutofit/>
          </a:bodyPr>
          <a:lstStyle/>
          <a:p>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a random-access method, </a:t>
            </a:r>
            <a:r>
              <a:rPr lang="en-US" dirty="0" smtClean="0">
                <a:latin typeface="Times New Roman" pitchFamily="18" charset="0"/>
                <a:cs typeface="Times New Roman" pitchFamily="18" charset="0"/>
              </a:rPr>
              <a:t>if </a:t>
            </a:r>
            <a:r>
              <a:rPr lang="en-US" dirty="0">
                <a:latin typeface="Times New Roman" pitchFamily="18" charset="0"/>
                <a:cs typeface="Times New Roman" pitchFamily="18" charset="0"/>
              </a:rPr>
              <a:t>more than one station tries to send, there </a:t>
            </a:r>
            <a:r>
              <a:rPr lang="en-US" dirty="0" smtClean="0">
                <a:latin typeface="Times New Roman" pitchFamily="18" charset="0"/>
                <a:cs typeface="Times New Roman" pitchFamily="18" charset="0"/>
              </a:rPr>
              <a:t>is an </a:t>
            </a:r>
            <a:r>
              <a:rPr lang="en-US" dirty="0">
                <a:latin typeface="Times New Roman" pitchFamily="18" charset="0"/>
                <a:cs typeface="Times New Roman" pitchFamily="18" charset="0"/>
              </a:rPr>
              <a:t>access </a:t>
            </a:r>
            <a:r>
              <a:rPr lang="en-US" dirty="0" smtClean="0">
                <a:latin typeface="Times New Roman" pitchFamily="18" charset="0"/>
                <a:cs typeface="Times New Roman" pitchFamily="18" charset="0"/>
              </a:rPr>
              <a:t>conflict or </a:t>
            </a:r>
            <a:r>
              <a:rPr lang="en-US" b="1" dirty="0" smtClean="0">
                <a:latin typeface="Times New Roman" pitchFamily="18" charset="0"/>
                <a:cs typeface="Times New Roman" pitchFamily="18" charset="0"/>
              </a:rPr>
              <a:t>collision</a:t>
            </a:r>
            <a:r>
              <a:rPr lang="en-US" dirty="0" smtClean="0">
                <a:latin typeface="Times New Roman" pitchFamily="18" charset="0"/>
                <a:cs typeface="Times New Roman" pitchFamily="18" charset="0"/>
              </a:rPr>
              <a:t> and </a:t>
            </a:r>
            <a:r>
              <a:rPr lang="en-US" dirty="0">
                <a:latin typeface="Times New Roman" pitchFamily="18" charset="0"/>
                <a:cs typeface="Times New Roman" pitchFamily="18" charset="0"/>
              </a:rPr>
              <a:t>the frames will be either destroyed or modified</a:t>
            </a:r>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To avoid </a:t>
            </a:r>
            <a:r>
              <a:rPr lang="en-US" dirty="0">
                <a:latin typeface="Times New Roman" pitchFamily="18" charset="0"/>
                <a:cs typeface="Times New Roman" pitchFamily="18" charset="0"/>
              </a:rPr>
              <a:t>access </a:t>
            </a:r>
            <a:r>
              <a:rPr lang="en-US" dirty="0" smtClean="0">
                <a:latin typeface="Times New Roman" pitchFamily="18" charset="0"/>
                <a:cs typeface="Times New Roman" pitchFamily="18" charset="0"/>
              </a:rPr>
              <a:t>conflict, </a:t>
            </a:r>
            <a:r>
              <a:rPr lang="en-US" dirty="0">
                <a:latin typeface="Times New Roman" pitchFamily="18" charset="0"/>
                <a:cs typeface="Times New Roman" pitchFamily="18" charset="0"/>
              </a:rPr>
              <a:t>each station follows a </a:t>
            </a:r>
            <a:r>
              <a:rPr lang="en-US" dirty="0" smtClean="0">
                <a:latin typeface="Times New Roman" pitchFamily="18" charset="0"/>
                <a:cs typeface="Times New Roman" pitchFamily="18" charset="0"/>
              </a:rPr>
              <a:t>procedure.</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ALOHA is </a:t>
            </a:r>
            <a:r>
              <a:rPr lang="en-US" dirty="0">
                <a:latin typeface="Times New Roman" pitchFamily="18" charset="0"/>
                <a:cs typeface="Times New Roman" pitchFamily="18" charset="0"/>
              </a:rPr>
              <a:t>used a very simple procedure called </a:t>
            </a:r>
            <a:r>
              <a:rPr lang="en-US" dirty="0" smtClean="0">
                <a:latin typeface="Times New Roman" pitchFamily="18" charset="0"/>
                <a:cs typeface="Times New Roman" pitchFamily="18" charset="0"/>
              </a:rPr>
              <a:t>Multiple Access </a:t>
            </a:r>
            <a:r>
              <a:rPr lang="en-US" dirty="0">
                <a:latin typeface="Times New Roman" pitchFamily="18" charset="0"/>
                <a:cs typeface="Times New Roman" pitchFamily="18" charset="0"/>
              </a:rPr>
              <a:t>(MA).</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latin typeface="Times New Roman" pitchFamily="18" charset="0"/>
                <a:cs typeface="Times New Roman" pitchFamily="18" charset="0"/>
              </a:rPr>
              <a:t>Pure ALOHA</a:t>
            </a:r>
          </a:p>
        </p:txBody>
      </p:sp>
      <p:sp>
        <p:nvSpPr>
          <p:cNvPr id="3" name="Content Placeholder 2"/>
          <p:cNvSpPr>
            <a:spLocks noGrp="1"/>
          </p:cNvSpPr>
          <p:nvPr>
            <p:ph idx="1"/>
          </p:nvPr>
        </p:nvSpPr>
        <p:spPr>
          <a:xfrm>
            <a:off x="0" y="914400"/>
            <a:ext cx="8915400" cy="5715000"/>
          </a:xfrm>
        </p:spPr>
        <p:txBody>
          <a:bodyPr/>
          <a:lstStyle/>
          <a:p>
            <a:r>
              <a:rPr lang="en-US" dirty="0">
                <a:latin typeface="Times New Roman" pitchFamily="18" charset="0"/>
                <a:cs typeface="Times New Roman" pitchFamily="18" charset="0"/>
              </a:rPr>
              <a:t>The original ALOHA protocol is called </a:t>
            </a:r>
            <a:r>
              <a:rPr lang="en-US" b="1" i="1" dirty="0">
                <a:latin typeface="Times New Roman" pitchFamily="18" charset="0"/>
                <a:cs typeface="Times New Roman" pitchFamily="18" charset="0"/>
              </a:rPr>
              <a:t>pure </a:t>
            </a:r>
            <a:r>
              <a:rPr lang="en-US" b="1" i="1" dirty="0" smtClean="0">
                <a:latin typeface="Times New Roman" pitchFamily="18" charset="0"/>
                <a:cs typeface="Times New Roman" pitchFamily="18" charset="0"/>
              </a:rPr>
              <a:t>ALOHA.</a:t>
            </a:r>
          </a:p>
          <a:p>
            <a:r>
              <a:rPr lang="en-US" dirty="0" smtClean="0">
                <a:latin typeface="Times New Roman" pitchFamily="18" charset="0"/>
                <a:cs typeface="Times New Roman" pitchFamily="18" charset="0"/>
              </a:rPr>
              <a:t>Each </a:t>
            </a:r>
            <a:r>
              <a:rPr lang="en-US" dirty="0">
                <a:latin typeface="Times New Roman" pitchFamily="18" charset="0"/>
                <a:cs typeface="Times New Roman" pitchFamily="18" charset="0"/>
              </a:rPr>
              <a:t>station sends a </a:t>
            </a:r>
            <a:r>
              <a:rPr lang="en-US" dirty="0" smtClean="0">
                <a:latin typeface="Times New Roman" pitchFamily="18" charset="0"/>
                <a:cs typeface="Times New Roman" pitchFamily="18" charset="0"/>
              </a:rPr>
              <a:t>frame.</a:t>
            </a:r>
          </a:p>
          <a:p>
            <a:r>
              <a:rPr lang="en-US" dirty="0" smtClean="0">
                <a:latin typeface="Times New Roman" pitchFamily="18" charset="0"/>
                <a:cs typeface="Times New Roman" pitchFamily="18" charset="0"/>
              </a:rPr>
              <a:t>There </a:t>
            </a:r>
            <a:r>
              <a:rPr lang="en-US" dirty="0">
                <a:latin typeface="Times New Roman" pitchFamily="18" charset="0"/>
                <a:cs typeface="Times New Roman" pitchFamily="18" charset="0"/>
              </a:rPr>
              <a:t>is only one channel to share</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possibility of collision </a:t>
            </a:r>
            <a:r>
              <a:rPr lang="en-US" dirty="0">
                <a:latin typeface="Times New Roman" pitchFamily="18" charset="0"/>
                <a:cs typeface="Times New Roman" pitchFamily="18" charset="0"/>
              </a:rPr>
              <a:t>between frames from different </a:t>
            </a:r>
            <a:r>
              <a:rPr lang="en-US" dirty="0" smtClean="0">
                <a:latin typeface="Times New Roman" pitchFamily="18" charset="0"/>
                <a:cs typeface="Times New Roman" pitchFamily="18" charset="0"/>
              </a:rPr>
              <a:t>stations.</a:t>
            </a:r>
            <a:endParaRPr lang="en-US"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381000" y="3733800"/>
            <a:ext cx="8001000" cy="3124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The frames collide as multiple frames are in contention for the shared channel.</a:t>
            </a:r>
          </a:p>
          <a:p>
            <a:r>
              <a:rPr lang="en-US" sz="2800" dirty="0" smtClean="0">
                <a:latin typeface="Times New Roman" pitchFamily="18" charset="0"/>
                <a:cs typeface="Times New Roman" pitchFamily="18" charset="0"/>
              </a:rPr>
              <a:t>When a station sends a frame, it expects the receiver to send an acknowledgment.</a:t>
            </a:r>
          </a:p>
          <a:p>
            <a:r>
              <a:rPr lang="en-US" sz="2800" dirty="0" smtClean="0">
                <a:latin typeface="Times New Roman" pitchFamily="18" charset="0"/>
                <a:cs typeface="Times New Roman" pitchFamily="18" charset="0"/>
              </a:rPr>
              <a:t>After a time-out period, the station assumes that the frame is lost and resends the frame.</a:t>
            </a:r>
          </a:p>
          <a:p>
            <a:r>
              <a:rPr lang="en-US" sz="2800" dirty="0" smtClean="0">
                <a:latin typeface="Times New Roman" pitchFamily="18" charset="0"/>
                <a:cs typeface="Times New Roman" pitchFamily="18" charset="0"/>
              </a:rPr>
              <a:t>In Pure ALOHA, each station waits a random amount of time before resending its frame this time is called the </a:t>
            </a:r>
            <a:r>
              <a:rPr lang="en-US" sz="2800" i="1" dirty="0" err="1" smtClean="0">
                <a:latin typeface="Times New Roman" pitchFamily="18" charset="0"/>
                <a:cs typeface="Times New Roman" pitchFamily="18" charset="0"/>
              </a:rPr>
              <a:t>backoff</a:t>
            </a:r>
            <a:r>
              <a:rPr lang="en-US" sz="2800" i="1" dirty="0" smtClean="0">
                <a:latin typeface="Times New Roman" pitchFamily="18" charset="0"/>
                <a:cs typeface="Times New Roman" pitchFamily="18" charset="0"/>
              </a:rPr>
              <a:t> time T</a:t>
            </a:r>
            <a:r>
              <a:rPr lang="en-US" sz="1600" i="1" dirty="0" smtClean="0">
                <a:latin typeface="Times New Roman" panose="02020603050405020304" pitchFamily="18" charset="0"/>
                <a:cs typeface="Times New Roman" panose="02020603050405020304" pitchFamily="18" charset="0"/>
              </a:rPr>
              <a:t>B.</a:t>
            </a:r>
          </a:p>
          <a:p>
            <a:r>
              <a:rPr lang="en-IN" sz="2800" dirty="0" smtClean="0">
                <a:latin typeface="Times New Roman" panose="02020603050405020304" pitchFamily="18" charset="0"/>
                <a:cs typeface="Times New Roman" panose="02020603050405020304" pitchFamily="18" charset="0"/>
              </a:rPr>
              <a:t>The time-out period is equal to the maximum possible round-trip propagation delay, which is twice the amount of time required to send a frame between the two most widely separated stations (2 × </a:t>
            </a:r>
            <a:r>
              <a:rPr lang="en-IN" sz="2800" i="1" dirty="0" err="1" smtClean="0">
                <a:latin typeface="Times New Roman" panose="02020603050405020304" pitchFamily="18" charset="0"/>
                <a:cs typeface="Times New Roman" panose="02020603050405020304" pitchFamily="18" charset="0"/>
              </a:rPr>
              <a:t>Tp</a:t>
            </a:r>
            <a:r>
              <a:rPr lang="en-IN" sz="2800" dirty="0" smtClean="0">
                <a:latin typeface="Times New Roman" panose="02020603050405020304" pitchFamily="18" charset="0"/>
                <a:cs typeface="Times New Roman" panose="02020603050405020304" pitchFamily="18" charset="0"/>
              </a:rPr>
              <a:t>).</a:t>
            </a:r>
            <a:endParaRPr lang="en-US" sz="2800" i="1" dirty="0" smtClean="0">
              <a:latin typeface="Times New Roman" panose="02020603050405020304" pitchFamily="18" charset="0"/>
              <a:cs typeface="Times New Roman" panose="02020603050405020304" pitchFamily="18" charset="0"/>
            </a:endParaRPr>
          </a:p>
          <a:p>
            <a:endParaRPr lang="en-US" sz="1600" i="1"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3000" cy="762000"/>
          </a:xfrm>
        </p:spPr>
        <p:txBody>
          <a:bodyPr>
            <a:normAutofit/>
          </a:bodyPr>
          <a:lstStyle/>
          <a:p>
            <a:r>
              <a:rPr lang="it-IT" sz="3200" dirty="0">
                <a:latin typeface="Times New Roman" pitchFamily="18" charset="0"/>
                <a:cs typeface="Times New Roman" pitchFamily="18" charset="0"/>
              </a:rPr>
              <a:t>Procedure for </a:t>
            </a:r>
            <a:r>
              <a:rPr lang="it-IT" sz="3200" dirty="0" smtClean="0">
                <a:latin typeface="Times New Roman" pitchFamily="18" charset="0"/>
                <a:cs typeface="Times New Roman" pitchFamily="18" charset="0"/>
              </a:rPr>
              <a:t>Pure </a:t>
            </a:r>
            <a:r>
              <a:rPr lang="it-IT" sz="3200" dirty="0">
                <a:latin typeface="Times New Roman" pitchFamily="18" charset="0"/>
                <a:cs typeface="Times New Roman" pitchFamily="18" charset="0"/>
              </a:rPr>
              <a:t>ALOHA protocol</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762000"/>
            <a:ext cx="8610600" cy="6096000"/>
          </a:xfrm>
        </p:spPr>
        <p:txBody>
          <a:bodyPr>
            <a:normAutofit/>
          </a:bodyPr>
          <a:lstStyle/>
          <a:p>
            <a:r>
              <a:rPr lang="en-US" sz="2400" dirty="0"/>
              <a:t>Pure </a:t>
            </a:r>
            <a:r>
              <a:rPr lang="en-US" sz="2400" dirty="0" smtClean="0"/>
              <a:t>ALOHA </a:t>
            </a:r>
            <a:r>
              <a:rPr lang="en-US" sz="2400" dirty="0" smtClean="0">
                <a:latin typeface="Times New Roman" pitchFamily="18" charset="0"/>
                <a:cs typeface="Times New Roman" pitchFamily="18" charset="0"/>
              </a:rPr>
              <a:t>prevents </a:t>
            </a:r>
            <a:r>
              <a:rPr lang="en-US" sz="2400" dirty="0">
                <a:latin typeface="Times New Roman" pitchFamily="18" charset="0"/>
                <a:cs typeface="Times New Roman" pitchFamily="18" charset="0"/>
              </a:rPr>
              <a:t>congesting the channel with </a:t>
            </a:r>
            <a:r>
              <a:rPr lang="en-US" sz="2400" dirty="0" smtClean="0">
                <a:latin typeface="Times New Roman" pitchFamily="18" charset="0"/>
                <a:cs typeface="Times New Roman" pitchFamily="18" charset="0"/>
              </a:rPr>
              <a:t>retransmitted frames</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After </a:t>
            </a:r>
            <a:r>
              <a:rPr lang="en-US" sz="2400" dirty="0">
                <a:latin typeface="Times New Roman" pitchFamily="18" charset="0"/>
                <a:cs typeface="Times New Roman" pitchFamily="18" charset="0"/>
              </a:rPr>
              <a:t>a </a:t>
            </a:r>
            <a:r>
              <a:rPr lang="en-US" sz="2400" dirty="0" smtClean="0">
                <a:latin typeface="Times New Roman" pitchFamily="18" charset="0"/>
                <a:cs typeface="Times New Roman" pitchFamily="18" charset="0"/>
              </a:rPr>
              <a:t>max </a:t>
            </a:r>
            <a:r>
              <a:rPr lang="en-US" sz="2400" dirty="0">
                <a:latin typeface="Times New Roman" pitchFamily="18" charset="0"/>
                <a:cs typeface="Times New Roman" pitchFamily="18" charset="0"/>
              </a:rPr>
              <a:t>number of </a:t>
            </a:r>
            <a:r>
              <a:rPr lang="en-US" sz="2400" dirty="0" smtClean="0">
                <a:latin typeface="Times New Roman" pitchFamily="18" charset="0"/>
                <a:cs typeface="Times New Roman" pitchFamily="18" charset="0"/>
              </a:rPr>
              <a:t>retransmission, </a:t>
            </a:r>
            <a:r>
              <a:rPr lang="en-US" sz="2400" i="1" dirty="0" err="1" smtClean="0">
                <a:latin typeface="Times New Roman" pitchFamily="18" charset="0"/>
                <a:cs typeface="Times New Roman" pitchFamily="18" charset="0"/>
              </a:rPr>
              <a:t>K</a:t>
            </a:r>
            <a:r>
              <a:rPr lang="en-US" sz="1400" i="1" dirty="0" err="1" smtClean="0">
                <a:latin typeface="Times New Roman" pitchFamily="18" charset="0"/>
                <a:cs typeface="Times New Roman" pitchFamily="18" charset="0"/>
              </a:rPr>
              <a:t>max</a:t>
            </a:r>
            <a:r>
              <a:rPr lang="en-US" sz="2400" dirty="0" smtClean="0">
                <a:latin typeface="Times New Roman" pitchFamily="18" charset="0"/>
                <a:cs typeface="Times New Roman" pitchFamily="18" charset="0"/>
              </a:rPr>
              <a:t>(15)</a:t>
            </a:r>
            <a:endParaRPr lang="en-US" sz="24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483676" y="2057400"/>
            <a:ext cx="8252847" cy="4802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Example 12.1</a:t>
            </a:r>
            <a:endParaRPr lang="en-IN" dirty="0"/>
          </a:p>
        </p:txBody>
      </p:sp>
      <p:pic>
        <p:nvPicPr>
          <p:cNvPr id="4" name="Content Placeholder 3"/>
          <p:cNvPicPr>
            <a:picLocks noGrp="1" noChangeAspect="1"/>
          </p:cNvPicPr>
          <p:nvPr>
            <p:ph idx="1"/>
          </p:nvPr>
        </p:nvPicPr>
        <p:blipFill>
          <a:blip r:embed="rId2" cstate="print"/>
          <a:stretch>
            <a:fillRect/>
          </a:stretch>
        </p:blipFill>
        <p:spPr>
          <a:xfrm>
            <a:off x="0" y="1905000"/>
            <a:ext cx="9143999" cy="2819400"/>
          </a:xfrm>
          <a:prstGeom prst="rect">
            <a:avLst/>
          </a:prstGeom>
        </p:spPr>
      </p:pic>
    </p:spTree>
    <p:extLst>
      <p:ext uri="{BB962C8B-B14F-4D97-AF65-F5344CB8AC3E}">
        <p14:creationId xmlns="" xmlns:p14="http://schemas.microsoft.com/office/powerpoint/2010/main" val="2240656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sz="3600" dirty="0">
                <a:latin typeface="Times New Roman" pitchFamily="18" charset="0"/>
                <a:cs typeface="Times New Roman" pitchFamily="18" charset="0"/>
              </a:rPr>
              <a:t>Vulnerable time</a:t>
            </a:r>
          </a:p>
        </p:txBody>
      </p:sp>
      <p:sp>
        <p:nvSpPr>
          <p:cNvPr id="3" name="Content Placeholder 2"/>
          <p:cNvSpPr>
            <a:spLocks noGrp="1"/>
          </p:cNvSpPr>
          <p:nvPr>
            <p:ph idx="1"/>
          </p:nvPr>
        </p:nvSpPr>
        <p:spPr>
          <a:xfrm>
            <a:off x="304800" y="609600"/>
            <a:ext cx="8610600" cy="6248400"/>
          </a:xfrm>
        </p:spPr>
        <p:txBody>
          <a:bodyPr>
            <a:normAutofit fontScale="92500"/>
          </a:bodyPr>
          <a:lstStyle/>
          <a:p>
            <a:r>
              <a:rPr lang="en-US" sz="2800" dirty="0" smtClean="0"/>
              <a:t>The </a:t>
            </a:r>
            <a:r>
              <a:rPr lang="en-US" sz="2800" dirty="0"/>
              <a:t>length of time in which there is a possibility of collision</a:t>
            </a:r>
            <a:r>
              <a:rPr lang="en-US" sz="2800" dirty="0" smtClean="0"/>
              <a:t>.</a:t>
            </a:r>
          </a:p>
          <a:p>
            <a:endParaRPr lang="en-US" sz="2800" dirty="0"/>
          </a:p>
          <a:p>
            <a:endParaRPr lang="en-US" sz="2800" dirty="0" smtClean="0"/>
          </a:p>
          <a:p>
            <a:endParaRPr lang="en-US" sz="2800" dirty="0"/>
          </a:p>
          <a:p>
            <a:endParaRPr lang="en-US" sz="2800" dirty="0" smtClean="0"/>
          </a:p>
          <a:p>
            <a:endParaRPr lang="en-US" sz="2800" dirty="0"/>
          </a:p>
          <a:p>
            <a:endParaRPr lang="en-US" sz="2800" dirty="0" smtClean="0"/>
          </a:p>
          <a:p>
            <a:endParaRPr lang="en-US" sz="2800" dirty="0"/>
          </a:p>
          <a:p>
            <a:endParaRPr lang="en-US" sz="2800" dirty="0" smtClean="0"/>
          </a:p>
          <a:p>
            <a:endParaRPr lang="en-US" sz="2800" dirty="0"/>
          </a:p>
          <a:p>
            <a:r>
              <a:rPr lang="en-US" sz="2800" dirty="0" smtClean="0"/>
              <a:t>The </a:t>
            </a:r>
            <a:r>
              <a:rPr lang="en-US" sz="2800" dirty="0"/>
              <a:t>vulnerable time during which a </a:t>
            </a:r>
            <a:r>
              <a:rPr lang="en-US" sz="2800" dirty="0" smtClean="0"/>
              <a:t>collision is </a:t>
            </a:r>
            <a:r>
              <a:rPr lang="en-US" sz="2800" dirty="0"/>
              <a:t>2 times the </a:t>
            </a:r>
            <a:r>
              <a:rPr lang="en-US" sz="2800" dirty="0" smtClean="0"/>
              <a:t>frame </a:t>
            </a:r>
            <a:r>
              <a:rPr lang="en-US" sz="2800" dirty="0"/>
              <a:t>transmission </a:t>
            </a:r>
            <a:r>
              <a:rPr lang="en-US" sz="2800" dirty="0" smtClean="0"/>
              <a:t>time.</a:t>
            </a:r>
          </a:p>
          <a:p>
            <a:pPr>
              <a:buNone/>
            </a:pPr>
            <a:r>
              <a:rPr lang="en-US" sz="2800" dirty="0" smtClean="0"/>
              <a:t>	</a:t>
            </a:r>
            <a:r>
              <a:rPr lang="en-US" sz="2800" dirty="0">
                <a:latin typeface="Times New Roman" pitchFamily="18" charset="0"/>
                <a:cs typeface="Times New Roman" pitchFamily="18" charset="0"/>
              </a:rPr>
              <a:t>Pure ALOHA vulnerable time </a:t>
            </a:r>
            <a:r>
              <a:rPr lang="en-US" sz="2800" dirty="0" smtClean="0">
                <a:latin typeface="Times New Roman" pitchFamily="18" charset="0"/>
                <a:cs typeface="Times New Roman" pitchFamily="18" charset="0"/>
              </a:rPr>
              <a:t>=2 x </a:t>
            </a:r>
            <a:r>
              <a:rPr lang="en-US" sz="2800" i="1" dirty="0" err="1">
                <a:latin typeface="Times New Roman" pitchFamily="18" charset="0"/>
                <a:cs typeface="Times New Roman" pitchFamily="18" charset="0"/>
              </a:rPr>
              <a:t>T</a:t>
            </a:r>
            <a:r>
              <a:rPr lang="en-US" sz="1600" i="1" dirty="0" err="1">
                <a:latin typeface="Times New Roman" pitchFamily="18" charset="0"/>
                <a:cs typeface="Times New Roman" pitchFamily="18" charset="0"/>
              </a:rPr>
              <a:t>fr</a:t>
            </a:r>
            <a:endParaRPr lang="en-US" sz="2800" dirty="0">
              <a:latin typeface="Times New Roman" pitchFamily="18" charset="0"/>
              <a:cs typeface="Times New Roman" pitchFamily="18" charset="0"/>
            </a:endParaRPr>
          </a:p>
        </p:txBody>
      </p:sp>
      <p:pic>
        <p:nvPicPr>
          <p:cNvPr id="5" name="Picture 2"/>
          <p:cNvPicPr>
            <a:picLocks noChangeAspect="1" noChangeArrowheads="1"/>
          </p:cNvPicPr>
          <p:nvPr/>
        </p:nvPicPr>
        <p:blipFill>
          <a:blip r:embed="rId2" cstate="print"/>
          <a:srcRect/>
          <a:stretch>
            <a:fillRect/>
          </a:stretch>
        </p:blipFill>
        <p:spPr bwMode="auto">
          <a:xfrm>
            <a:off x="457200" y="1219200"/>
            <a:ext cx="8229600" cy="4191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stretch>
            <a:fillRect/>
          </a:stretch>
        </p:blipFill>
        <p:spPr>
          <a:xfrm>
            <a:off x="152400" y="533400"/>
            <a:ext cx="8686800" cy="3124200"/>
          </a:xfrm>
          <a:prstGeom prst="rect">
            <a:avLst/>
          </a:prstGeom>
        </p:spPr>
      </p:pic>
    </p:spTree>
    <p:extLst>
      <p:ext uri="{BB962C8B-B14F-4D97-AF65-F5344CB8AC3E}">
        <p14:creationId xmlns="" xmlns:p14="http://schemas.microsoft.com/office/powerpoint/2010/main" val="22077269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latin typeface="Times New Roman" pitchFamily="18" charset="0"/>
                <a:cs typeface="Times New Roman" pitchFamily="18" charset="0"/>
              </a:rPr>
              <a:t>Throughput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915400" cy="5943600"/>
          </a:xfrm>
        </p:spPr>
        <p:txBody>
          <a:bodyPr>
            <a:noAutofit/>
          </a:bodyPr>
          <a:lstStyle/>
          <a:p>
            <a:r>
              <a:rPr lang="en-US" dirty="0" smtClean="0">
                <a:latin typeface="Times New Roman" pitchFamily="18" charset="0"/>
                <a:cs typeface="Times New Roman" pitchFamily="18" charset="0"/>
              </a:rPr>
              <a:t>The average number of successfully transmitted</a:t>
            </a:r>
          </a:p>
          <a:p>
            <a:pPr>
              <a:buNone/>
            </a:pPr>
            <a:r>
              <a:rPr lang="en-US" dirty="0" smtClean="0">
                <a:latin typeface="Times New Roman" pitchFamily="18" charset="0"/>
                <a:cs typeface="Times New Roman" pitchFamily="18" charset="0"/>
              </a:rPr>
              <a:t>   frames for pure ALOHA is S = G × e</a:t>
            </a:r>
            <a:r>
              <a:rPr lang="en-US" baseline="30000" dirty="0" smtClean="0">
                <a:latin typeface="Times New Roman" pitchFamily="18" charset="0"/>
                <a:cs typeface="Times New Roman" pitchFamily="18" charset="0"/>
              </a:rPr>
              <a:t>−2G</a:t>
            </a:r>
            <a:r>
              <a:rPr lang="en-US" sz="4400" baseline="30000" dirty="0" smtClean="0">
                <a:latin typeface="Times New Roman" pitchFamily="18" charset="0"/>
                <a:cs typeface="Times New Roman" pitchFamily="18" charset="0"/>
              </a:rPr>
              <a:t>.</a:t>
            </a:r>
            <a:endParaRPr lang="en-US" baseline="30000"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G - average number of frames generated by the system during one frame transmission time.</a:t>
            </a:r>
          </a:p>
          <a:p>
            <a:r>
              <a:rPr lang="en-US" dirty="0" smtClean="0">
                <a:latin typeface="Times New Roman" pitchFamily="18" charset="0"/>
                <a:cs typeface="Times New Roman" pitchFamily="18" charset="0"/>
              </a:rPr>
              <a:t>The max throughput </a:t>
            </a:r>
            <a:r>
              <a:rPr lang="en-US" dirty="0" err="1" smtClean="0">
                <a:latin typeface="Times New Roman" pitchFamily="18" charset="0"/>
                <a:cs typeface="Times New Roman" pitchFamily="18" charset="0"/>
              </a:rPr>
              <a:t>S</a:t>
            </a:r>
            <a:r>
              <a:rPr lang="en-US" sz="2000" dirty="0" err="1" smtClean="0">
                <a:latin typeface="Times New Roman" pitchFamily="18" charset="0"/>
                <a:cs typeface="Times New Roman" pitchFamily="18" charset="0"/>
              </a:rPr>
              <a:t>max</a:t>
            </a:r>
            <a:r>
              <a:rPr lang="en-US" dirty="0" smtClean="0">
                <a:latin typeface="Times New Roman" pitchFamily="18" charset="0"/>
                <a:cs typeface="Times New Roman" pitchFamily="18" charset="0"/>
              </a:rPr>
              <a:t> =0.184,for G =1/2.</a:t>
            </a:r>
          </a:p>
          <a:p>
            <a:r>
              <a:rPr lang="en-US" dirty="0" smtClean="0">
                <a:latin typeface="Times New Roman" pitchFamily="18" charset="0"/>
                <a:cs typeface="Times New Roman" pitchFamily="18" charset="0"/>
              </a:rPr>
              <a:t>If one-half a frame is generated during one frame transmission time, then 18.4 % frames reach their destination successfully.</a:t>
            </a:r>
          </a:p>
          <a:p>
            <a:r>
              <a:rPr lang="en-US" dirty="0" smtClean="0">
                <a:latin typeface="Times New Roman" pitchFamily="18" charset="0"/>
                <a:cs typeface="Times New Roman" pitchFamily="18" charset="0"/>
              </a:rPr>
              <a:t>Therefore ,if a station generates only one frame in this vulnerable time then it reaches the destination successfully.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stretch>
            <a:fillRect/>
          </a:stretch>
        </p:blipFill>
        <p:spPr>
          <a:xfrm>
            <a:off x="76200" y="2286000"/>
            <a:ext cx="9067799" cy="2209799"/>
          </a:xfrm>
          <a:prstGeom prst="rect">
            <a:avLst/>
          </a:prstGeom>
        </p:spPr>
      </p:pic>
    </p:spTree>
    <p:extLst>
      <p:ext uri="{BB962C8B-B14F-4D97-AF65-F5344CB8AC3E}">
        <p14:creationId xmlns="" xmlns:p14="http://schemas.microsoft.com/office/powerpoint/2010/main" val="6550633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dirty="0" smtClean="0">
                <a:latin typeface="Times New Roman" pitchFamily="18" charset="0"/>
                <a:cs typeface="Times New Roman" pitchFamily="18" charset="0"/>
              </a:rPr>
              <a:t>Problem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838200"/>
            <a:ext cx="8610600" cy="5287963"/>
          </a:xfrm>
        </p:spPr>
        <p:txBody>
          <a:bodyPr/>
          <a:lstStyle/>
          <a:p>
            <a:r>
              <a:rPr lang="en-US" dirty="0" smtClean="0">
                <a:latin typeface="Times New Roman" pitchFamily="18" charset="0"/>
                <a:cs typeface="Times New Roman" pitchFamily="18" charset="0"/>
              </a:rPr>
              <a:t>A pure ALOHA network transmits 200-bit frames on a shared channel of 200 kbps. What is the</a:t>
            </a:r>
          </a:p>
          <a:p>
            <a:pPr>
              <a:buNone/>
            </a:pPr>
            <a:r>
              <a:rPr lang="en-US" dirty="0" smtClean="0">
                <a:latin typeface="Times New Roman" pitchFamily="18" charset="0"/>
                <a:cs typeface="Times New Roman" pitchFamily="18" charset="0"/>
              </a:rPr>
              <a:t>    throughput if the system (all stations together) produces</a:t>
            </a:r>
          </a:p>
          <a:p>
            <a:pPr>
              <a:buNone/>
            </a:pPr>
            <a:r>
              <a:rPr lang="en-US" dirty="0" smtClean="0">
                <a:latin typeface="Times New Roman" pitchFamily="18" charset="0"/>
                <a:cs typeface="Times New Roman" pitchFamily="18" charset="0"/>
              </a:rPr>
              <a:t>		a. 1000 frames per second?</a:t>
            </a:r>
          </a:p>
          <a:p>
            <a:pPr>
              <a:buNone/>
            </a:pPr>
            <a:r>
              <a:rPr lang="en-US" dirty="0" smtClean="0">
                <a:latin typeface="Times New Roman" pitchFamily="18" charset="0"/>
                <a:cs typeface="Times New Roman" pitchFamily="18" charset="0"/>
              </a:rPr>
              <a:t>		b. 500 frames per second?</a:t>
            </a:r>
          </a:p>
          <a:p>
            <a:pPr>
              <a:buNone/>
            </a:pPr>
            <a:r>
              <a:rPr lang="en-US" dirty="0" smtClean="0">
                <a:latin typeface="Times New Roman" pitchFamily="18" charset="0"/>
                <a:cs typeface="Times New Roman" pitchFamily="18" charset="0"/>
              </a:rPr>
              <a:t>		c. 250 frames per second?.</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09600"/>
          </a:xfrm>
        </p:spPr>
        <p:txBody>
          <a:bodyPr>
            <a:normAutofit fontScale="90000"/>
          </a:bodyPr>
          <a:lstStyle/>
          <a:p>
            <a:r>
              <a:rPr lang="en-US" dirty="0" smtClean="0">
                <a:latin typeface="Times New Roman" pitchFamily="18" charset="0"/>
                <a:cs typeface="Times New Roman" pitchFamily="18" charset="0"/>
              </a:rPr>
              <a:t>Solution</a:t>
            </a:r>
          </a:p>
        </p:txBody>
      </p:sp>
      <p:sp>
        <p:nvSpPr>
          <p:cNvPr id="3" name="Content Placeholder 2"/>
          <p:cNvSpPr>
            <a:spLocks noGrp="1"/>
          </p:cNvSpPr>
          <p:nvPr>
            <p:ph idx="1"/>
          </p:nvPr>
        </p:nvSpPr>
        <p:spPr>
          <a:xfrm>
            <a:off x="228600" y="762000"/>
            <a:ext cx="8915400" cy="6096000"/>
          </a:xfrm>
        </p:spPr>
        <p:txBody>
          <a:bodyPr>
            <a:normAutofit fontScale="85000" lnSpcReduction="20000"/>
          </a:bodyPr>
          <a:lstStyle/>
          <a:p>
            <a:pPr>
              <a:buNone/>
            </a:pPr>
            <a:r>
              <a:rPr lang="en-US" dirty="0" smtClean="0">
                <a:latin typeface="Times New Roman" pitchFamily="18" charset="0"/>
                <a:cs typeface="Times New Roman" pitchFamily="18" charset="0"/>
              </a:rPr>
              <a:t>The frame transmission time is 200/200 kbps or 1 </a:t>
            </a:r>
            <a:r>
              <a:rPr lang="en-US" dirty="0" err="1" smtClean="0">
                <a:latin typeface="Times New Roman" pitchFamily="18" charset="0"/>
                <a:cs typeface="Times New Roman" pitchFamily="18" charset="0"/>
              </a:rPr>
              <a:t>ms.</a:t>
            </a:r>
            <a:endParaRPr lang="en-US" dirty="0" smtClean="0">
              <a:latin typeface="Times New Roman" pitchFamily="18" charset="0"/>
              <a:cs typeface="Times New Roman" pitchFamily="18" charset="0"/>
            </a:endParaRPr>
          </a:p>
          <a:p>
            <a:pPr marL="514350" indent="-514350">
              <a:buAutoNum type="alphaLcPeriod"/>
            </a:pPr>
            <a:r>
              <a:rPr lang="en-US" b="1" dirty="0" smtClean="0">
                <a:latin typeface="Times New Roman" pitchFamily="18" charset="0"/>
                <a:cs typeface="Times New Roman" pitchFamily="18" charset="0"/>
              </a:rPr>
              <a:t>If the system creates 1000 frames per second, or 1 frame per millisecond, then G = 1. </a:t>
            </a:r>
          </a:p>
          <a:p>
            <a:pPr marL="514350" indent="-514350">
              <a:buNone/>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this case S = G × e</a:t>
            </a:r>
            <a:r>
              <a:rPr lang="en-US" sz="4200" baseline="20000" dirty="0" smtClean="0">
                <a:latin typeface="Times New Roman" pitchFamily="18" charset="0"/>
                <a:cs typeface="Times New Roman" pitchFamily="18" charset="0"/>
              </a:rPr>
              <a:t>−2G </a:t>
            </a:r>
            <a:r>
              <a:rPr lang="en-US" dirty="0" smtClean="0">
                <a:latin typeface="Times New Roman" pitchFamily="18" charset="0"/>
                <a:cs typeface="Times New Roman" pitchFamily="18" charset="0"/>
              </a:rPr>
              <a:t>= 0.135 (13.5 percent). This means that the throughput is 1000 ×0.135 = 135 frames. Only 135 frames out of 1000 will probably survive.</a:t>
            </a:r>
          </a:p>
          <a:p>
            <a:pPr>
              <a:buNone/>
            </a:pPr>
            <a:r>
              <a:rPr lang="en-US" b="1" dirty="0" smtClean="0">
                <a:latin typeface="Times New Roman" pitchFamily="18" charset="0"/>
                <a:cs typeface="Times New Roman" pitchFamily="18" charset="0"/>
              </a:rPr>
              <a:t>b. If the system creates 500 frames per second, or 1/2 frames per millisecond, then G = 1/2.</a:t>
            </a:r>
          </a:p>
          <a:p>
            <a:pPr>
              <a:buNone/>
            </a:pPr>
            <a:r>
              <a:rPr lang="en-US" dirty="0" smtClean="0">
                <a:latin typeface="Times New Roman" pitchFamily="18" charset="0"/>
                <a:cs typeface="Times New Roman" pitchFamily="18" charset="0"/>
              </a:rPr>
              <a:t>	In this case S = G × e</a:t>
            </a:r>
            <a:r>
              <a:rPr lang="en-US" baseline="20000" dirty="0" smtClean="0">
                <a:latin typeface="Times New Roman" pitchFamily="18" charset="0"/>
                <a:cs typeface="Times New Roman" pitchFamily="18" charset="0"/>
              </a:rPr>
              <a:t> −2G </a:t>
            </a:r>
            <a:r>
              <a:rPr lang="en-US" dirty="0" smtClean="0">
                <a:latin typeface="Times New Roman" pitchFamily="18" charset="0"/>
                <a:cs typeface="Times New Roman" pitchFamily="18" charset="0"/>
              </a:rPr>
              <a:t>= 0.184 (18.4 percent). This means that the throughput is 500 ×0.184 = 92 and that only 92 frames out of 500 will probably survive. </a:t>
            </a:r>
          </a:p>
          <a:p>
            <a:pPr>
              <a:buNone/>
            </a:pPr>
            <a:r>
              <a:rPr lang="en-US" b="1" dirty="0" smtClean="0">
                <a:latin typeface="Times New Roman" pitchFamily="18" charset="0"/>
                <a:cs typeface="Times New Roman" pitchFamily="18" charset="0"/>
              </a:rPr>
              <a:t>c. If the system creates 250 frames per second, or 1/4 frames per millisecond, then G = 1/4.</a:t>
            </a:r>
          </a:p>
          <a:p>
            <a:pPr>
              <a:buNone/>
            </a:pPr>
            <a:r>
              <a:rPr lang="en-US" dirty="0" smtClean="0">
                <a:latin typeface="Times New Roman" pitchFamily="18" charset="0"/>
                <a:cs typeface="Times New Roman" pitchFamily="18" charset="0"/>
              </a:rPr>
              <a:t>	In this case S = G × e</a:t>
            </a:r>
            <a:r>
              <a:rPr lang="en-US" baseline="20000" dirty="0" smtClean="0">
                <a:latin typeface="Times New Roman" pitchFamily="18" charset="0"/>
                <a:cs typeface="Times New Roman" pitchFamily="18" charset="0"/>
              </a:rPr>
              <a:t> −2G </a:t>
            </a:r>
            <a:r>
              <a:rPr lang="en-US" dirty="0" smtClean="0">
                <a:latin typeface="Times New Roman" pitchFamily="18" charset="0"/>
                <a:cs typeface="Times New Roman" pitchFamily="18" charset="0"/>
              </a:rPr>
              <a:t>= 0.152 (15.2 percent). This means that the throughput is 250 × 0.152 = 38. Only 38 frames out of 250 will probably survive.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smtClean="0">
                <a:latin typeface="Times New Roman" pitchFamily="18" charset="0"/>
                <a:cs typeface="Times New Roman" pitchFamily="18" charset="0"/>
              </a:rPr>
              <a:t>Slotted ALOHA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0" y="685800"/>
            <a:ext cx="9144000" cy="6172200"/>
          </a:xfrm>
        </p:spPr>
        <p:txBody>
          <a:bodyPr>
            <a:normAutofit fontScale="92500"/>
          </a:bodyPr>
          <a:lstStyle/>
          <a:p>
            <a:r>
              <a:rPr lang="en-US" sz="2800" dirty="0" smtClean="0">
                <a:latin typeface="Times New Roman" pitchFamily="18" charset="0"/>
                <a:cs typeface="Times New Roman" pitchFamily="18" charset="0"/>
              </a:rPr>
              <a:t>In slotted ALOHA, divide the time into slots of </a:t>
            </a:r>
            <a:r>
              <a:rPr lang="en-US" sz="2800" i="1" dirty="0" err="1" smtClean="0">
                <a:latin typeface="Times New Roman" pitchFamily="18" charset="0"/>
                <a:cs typeface="Times New Roman" pitchFamily="18" charset="0"/>
              </a:rPr>
              <a:t>T</a:t>
            </a:r>
            <a:r>
              <a:rPr lang="en-US" sz="2000" i="1" dirty="0" err="1" smtClean="0">
                <a:latin typeface="Times New Roman" pitchFamily="18" charset="0"/>
                <a:cs typeface="Times New Roman" pitchFamily="18" charset="0"/>
              </a:rPr>
              <a:t>fr</a:t>
            </a:r>
            <a:r>
              <a:rPr lang="en-US" sz="2800" i="1" dirty="0" smtClean="0">
                <a:latin typeface="Times New Roman" pitchFamily="18" charset="0"/>
                <a:cs typeface="Times New Roman" pitchFamily="18" charset="0"/>
              </a:rPr>
              <a:t> seconds and force the station </a:t>
            </a:r>
            <a:r>
              <a:rPr lang="en-US" sz="2800" dirty="0" smtClean="0">
                <a:latin typeface="Times New Roman" pitchFamily="18" charset="0"/>
                <a:cs typeface="Times New Roman" pitchFamily="18" charset="0"/>
              </a:rPr>
              <a:t>to send only at the beginning of the time slot.</a:t>
            </a:r>
          </a:p>
          <a:p>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endParaRPr lang="en-US" sz="2800" dirty="0" smtClean="0"/>
          </a:p>
          <a:p>
            <a:endParaRPr lang="en-US" sz="2800" dirty="0" smtClean="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The possibility of collision, if two stations try to send at the beginning of the same time slot.</a:t>
            </a:r>
            <a:endParaRPr lang="en-US" sz="28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304800" y="1524000"/>
            <a:ext cx="8382000"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dirty="0" smtClean="0">
                <a:latin typeface="Times New Roman" pitchFamily="18" charset="0"/>
                <a:cs typeface="Times New Roman" pitchFamily="18" charset="0"/>
              </a:rPr>
              <a:t>Vulnerable time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943600"/>
          </a:xfrm>
        </p:spPr>
        <p:txBody>
          <a:bodyPr>
            <a:normAutofit/>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Slotted ALOHA vulnerable time = </a:t>
            </a:r>
            <a:r>
              <a:rPr lang="en-US" i="1" dirty="0" err="1" smtClean="0"/>
              <a:t>T</a:t>
            </a:r>
            <a:r>
              <a:rPr lang="en-US" sz="2000" i="1" dirty="0" err="1" smtClean="0"/>
              <a:t>fr</a:t>
            </a:r>
            <a:endParaRPr lang="en-US" dirty="0"/>
          </a:p>
        </p:txBody>
      </p:sp>
      <p:pic>
        <p:nvPicPr>
          <p:cNvPr id="5" name="Picture 2"/>
          <p:cNvPicPr>
            <a:picLocks noChangeAspect="1" noChangeArrowheads="1"/>
          </p:cNvPicPr>
          <p:nvPr/>
        </p:nvPicPr>
        <p:blipFill>
          <a:blip r:embed="rId2" cstate="print"/>
          <a:srcRect/>
          <a:stretch>
            <a:fillRect/>
          </a:stretch>
        </p:blipFill>
        <p:spPr bwMode="auto">
          <a:xfrm>
            <a:off x="304800" y="1371600"/>
            <a:ext cx="8686799"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smtClean="0"/>
              <a:t>Throughput</a:t>
            </a:r>
            <a:endParaRPr lang="en-US" dirty="0"/>
          </a:p>
        </p:txBody>
      </p:sp>
      <p:sp>
        <p:nvSpPr>
          <p:cNvPr id="3" name="Content Placeholder 2"/>
          <p:cNvSpPr>
            <a:spLocks noGrp="1"/>
          </p:cNvSpPr>
          <p:nvPr>
            <p:ph idx="1"/>
          </p:nvPr>
        </p:nvSpPr>
        <p:spPr>
          <a:xfrm>
            <a:off x="228600" y="990600"/>
            <a:ext cx="8763000" cy="5562600"/>
          </a:xfrm>
        </p:spPr>
        <p:txBody>
          <a:bodyPr>
            <a:normAutofit/>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average number of successful transmissions for slotted ALOHA is </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 = G × e</a:t>
            </a:r>
            <a:r>
              <a:rPr lang="en-US" baseline="30000" dirty="0" smtClean="0">
                <a:latin typeface="Times New Roman" pitchFamily="18" charset="0"/>
                <a:cs typeface="Times New Roman" pitchFamily="18" charset="0"/>
              </a:rPr>
              <a:t>−G</a:t>
            </a:r>
            <a:r>
              <a:rPr lang="en-US" i="1" baseline="30000"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 The maximum throughput </a:t>
            </a:r>
            <a:r>
              <a:rPr lang="en-US" i="1" dirty="0" err="1" smtClean="0">
                <a:latin typeface="Times New Roman" pitchFamily="18" charset="0"/>
                <a:cs typeface="Times New Roman" pitchFamily="18" charset="0"/>
              </a:rPr>
              <a:t>Smax</a:t>
            </a:r>
            <a:r>
              <a:rPr lang="en-US" i="1" dirty="0" smtClean="0">
                <a:latin typeface="Times New Roman" pitchFamily="18" charset="0"/>
                <a:cs typeface="Times New Roman" pitchFamily="18" charset="0"/>
              </a:rPr>
              <a:t> is 0.368, when G = 1.</a:t>
            </a:r>
          </a:p>
          <a:p>
            <a:r>
              <a:rPr lang="en-US" dirty="0" smtClean="0">
                <a:latin typeface="Times New Roman" pitchFamily="18" charset="0"/>
                <a:cs typeface="Times New Roman" pitchFamily="18" charset="0"/>
              </a:rPr>
              <a:t>If one frame is generated during one frame transmission time, then 36.8 percent of these frames reach their destination successfully.</a:t>
            </a:r>
          </a:p>
          <a:p>
            <a:pPr>
              <a:buNone/>
            </a:pPr>
            <a:r>
              <a:rPr lang="en-US" dirty="0" smtClean="0">
                <a:latin typeface="Times New Roman" pitchFamily="18" charset="0"/>
                <a:cs typeface="Times New Roman" pitchFamily="18" charset="0"/>
              </a:rPr>
              <a:t>					</a:t>
            </a:r>
            <a:endParaRPr lang="en-US" i="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Problem</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600200"/>
            <a:ext cx="8382000" cy="4525963"/>
          </a:xfrm>
        </p:spPr>
        <p:txBody>
          <a:bodyPr/>
          <a:lstStyle/>
          <a:p>
            <a:pPr>
              <a:buNone/>
            </a:pPr>
            <a:r>
              <a:rPr lang="en-US" dirty="0" smtClean="0">
                <a:latin typeface="Times New Roman" pitchFamily="18" charset="0"/>
                <a:cs typeface="Times New Roman" pitchFamily="18" charset="0"/>
              </a:rPr>
              <a:t>	A slotted ALOHA network transmits 200-bit frames using a shared channel with a 200-kbps bandwidth. Find the throughput if the system (all stations together) produces</a:t>
            </a:r>
          </a:p>
          <a:p>
            <a:pPr>
              <a:buNone/>
            </a:pPr>
            <a:r>
              <a:rPr lang="en-US" dirty="0" smtClean="0">
                <a:latin typeface="Times New Roman" pitchFamily="18" charset="0"/>
                <a:cs typeface="Times New Roman" pitchFamily="18" charset="0"/>
              </a:rPr>
              <a:t>			a. 1000 frames per second.</a:t>
            </a:r>
          </a:p>
          <a:p>
            <a:pPr>
              <a:buNone/>
            </a:pPr>
            <a:r>
              <a:rPr lang="en-US" dirty="0" smtClean="0">
                <a:latin typeface="Times New Roman" pitchFamily="18" charset="0"/>
                <a:cs typeface="Times New Roman" pitchFamily="18" charset="0"/>
              </a:rPr>
              <a:t>			b. 500 frames per second.</a:t>
            </a:r>
          </a:p>
          <a:p>
            <a:pPr>
              <a:buNone/>
            </a:pPr>
            <a:r>
              <a:rPr lang="en-US" dirty="0" smtClean="0">
                <a:latin typeface="Times New Roman" pitchFamily="18" charset="0"/>
                <a:cs typeface="Times New Roman" pitchFamily="18" charset="0"/>
              </a:rPr>
              <a:t>			c. 250 frames per second</a:t>
            </a:r>
            <a:r>
              <a:rPr lang="en-US" b="1" dirty="0" smtClean="0">
                <a:latin typeface="Times New Roman" pitchFamily="18" charset="0"/>
                <a:cs typeface="Times New Roman" pitchFamily="18" charset="0"/>
              </a:rPr>
              <a:t>.</a:t>
            </a:r>
            <a:endParaRPr lang="en-US" i="1"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b="1" dirty="0" smtClean="0">
                <a:latin typeface="Times New Roman" pitchFamily="18" charset="0"/>
                <a:cs typeface="Times New Roman" pitchFamily="18" charset="0"/>
              </a:rPr>
              <a:t>Solution</a:t>
            </a:r>
            <a:endParaRPr lang="en-US" dirty="0"/>
          </a:p>
        </p:txBody>
      </p:sp>
      <p:sp>
        <p:nvSpPr>
          <p:cNvPr id="3" name="Content Placeholder 2"/>
          <p:cNvSpPr>
            <a:spLocks noGrp="1"/>
          </p:cNvSpPr>
          <p:nvPr>
            <p:ph idx="1"/>
          </p:nvPr>
        </p:nvSpPr>
        <p:spPr>
          <a:xfrm>
            <a:off x="304800" y="533400"/>
            <a:ext cx="8382000" cy="6324600"/>
          </a:xfrm>
        </p:spPr>
        <p:txBody>
          <a:bodyPr>
            <a:normAutofit fontScale="25000" lnSpcReduction="20000"/>
          </a:bodyPr>
          <a:lstStyle/>
          <a:p>
            <a:pPr>
              <a:buNone/>
            </a:pPr>
            <a:r>
              <a:rPr lang="en-US" b="1" dirty="0" smtClean="0">
                <a:latin typeface="Times New Roman" pitchFamily="18" charset="0"/>
                <a:cs typeface="Times New Roman" pitchFamily="18" charset="0"/>
              </a:rPr>
              <a:t>		</a:t>
            </a:r>
            <a:endParaRPr lang="en-US" sz="7000" b="1" dirty="0" smtClean="0">
              <a:latin typeface="Times New Roman" pitchFamily="18" charset="0"/>
              <a:cs typeface="Times New Roman" pitchFamily="18" charset="0"/>
            </a:endParaRPr>
          </a:p>
          <a:p>
            <a:pPr>
              <a:buNone/>
            </a:pPr>
            <a:r>
              <a:rPr lang="en-US" sz="7000" dirty="0" smtClean="0">
                <a:latin typeface="Times New Roman" pitchFamily="18" charset="0"/>
                <a:cs typeface="Times New Roman" pitchFamily="18" charset="0"/>
              </a:rPr>
              <a:t>	</a:t>
            </a:r>
            <a:r>
              <a:rPr lang="en-US" sz="11200" dirty="0" smtClean="0">
                <a:latin typeface="Times New Roman" pitchFamily="18" charset="0"/>
                <a:cs typeface="Times New Roman" pitchFamily="18" charset="0"/>
              </a:rPr>
              <a:t>This situation is similar to the previous exercise except that the network is using slotted ALOHA instead of pure ALOHA. The frame transmission time is 200/200 kbps or 1 </a:t>
            </a:r>
            <a:r>
              <a:rPr lang="en-US" sz="11200" dirty="0" err="1" smtClean="0">
                <a:latin typeface="Times New Roman" pitchFamily="18" charset="0"/>
                <a:cs typeface="Times New Roman" pitchFamily="18" charset="0"/>
              </a:rPr>
              <a:t>ms.</a:t>
            </a:r>
            <a:endParaRPr lang="en-US" sz="11200" dirty="0" smtClean="0">
              <a:latin typeface="Times New Roman" pitchFamily="18" charset="0"/>
              <a:cs typeface="Times New Roman" pitchFamily="18" charset="0"/>
            </a:endParaRPr>
          </a:p>
          <a:p>
            <a:pPr>
              <a:buNone/>
            </a:pPr>
            <a:r>
              <a:rPr lang="en-US" sz="11200" b="1" dirty="0" smtClean="0">
                <a:latin typeface="Times New Roman" pitchFamily="18" charset="0"/>
                <a:cs typeface="Times New Roman" pitchFamily="18" charset="0"/>
              </a:rPr>
              <a:t>	a. In this case </a:t>
            </a:r>
            <a:r>
              <a:rPr lang="en-US" sz="11200" b="1" i="1" dirty="0" smtClean="0">
                <a:latin typeface="Times New Roman" pitchFamily="18" charset="0"/>
                <a:cs typeface="Times New Roman" pitchFamily="18" charset="0"/>
              </a:rPr>
              <a:t>G is 1. So S = G × e−G = 0.368 (36.8 percent). This means that the throughput </a:t>
            </a:r>
            <a:r>
              <a:rPr lang="en-US" sz="11200" dirty="0" smtClean="0">
                <a:latin typeface="Times New Roman" pitchFamily="18" charset="0"/>
                <a:cs typeface="Times New Roman" pitchFamily="18" charset="0"/>
              </a:rPr>
              <a:t>is 1000 × 0.0368 = 368 frames. Only 368 out of 1000 frames will probably survive. Note that this is the maximum throughput case, percentagewise.</a:t>
            </a:r>
          </a:p>
          <a:p>
            <a:pPr>
              <a:buNone/>
            </a:pPr>
            <a:r>
              <a:rPr lang="en-US" sz="11200" b="1" dirty="0" smtClean="0">
                <a:latin typeface="Times New Roman" pitchFamily="18" charset="0"/>
                <a:cs typeface="Times New Roman" pitchFamily="18" charset="0"/>
              </a:rPr>
              <a:t>	b. Here </a:t>
            </a:r>
            <a:r>
              <a:rPr lang="en-US" sz="11200" b="1" i="1" dirty="0" smtClean="0">
                <a:latin typeface="Times New Roman" pitchFamily="18" charset="0"/>
                <a:cs typeface="Times New Roman" pitchFamily="18" charset="0"/>
              </a:rPr>
              <a:t>G is 1/2. In this case S = G × e−G = 0.303 (30.3 percent). This means that the </a:t>
            </a:r>
            <a:r>
              <a:rPr lang="en-US" sz="11200" dirty="0" smtClean="0">
                <a:latin typeface="Times New Roman" pitchFamily="18" charset="0"/>
                <a:cs typeface="Times New Roman" pitchFamily="18" charset="0"/>
              </a:rPr>
              <a:t>throughput is 500 × 0.0303 = 151. Only 151 frames out of 500 will probably survive.</a:t>
            </a:r>
          </a:p>
          <a:p>
            <a:pPr>
              <a:buNone/>
            </a:pPr>
            <a:r>
              <a:rPr lang="en-US" sz="11200" b="1" dirty="0" smtClean="0">
                <a:latin typeface="Times New Roman" pitchFamily="18" charset="0"/>
                <a:cs typeface="Times New Roman" pitchFamily="18" charset="0"/>
              </a:rPr>
              <a:t>	c. Now </a:t>
            </a:r>
            <a:r>
              <a:rPr lang="en-US" sz="11200" b="1" i="1" dirty="0" smtClean="0">
                <a:latin typeface="Times New Roman" pitchFamily="18" charset="0"/>
                <a:cs typeface="Times New Roman" pitchFamily="18" charset="0"/>
              </a:rPr>
              <a:t>G is 1/4. In this case S = G × e−G = 0.195 (19.5 percent). This means that the </a:t>
            </a:r>
            <a:r>
              <a:rPr lang="en-US" sz="11200" dirty="0" smtClean="0">
                <a:latin typeface="Times New Roman" pitchFamily="18" charset="0"/>
                <a:cs typeface="Times New Roman" pitchFamily="18" charset="0"/>
              </a:rPr>
              <a:t>throughput is 250 × 0.195 = 49. Only 49 frames out of 250 will probably survive.</a:t>
            </a:r>
            <a:endParaRPr lang="en-US" sz="1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686800" cy="639762"/>
          </a:xfrm>
        </p:spPr>
        <p:txBody>
          <a:bodyPr>
            <a:noAutofit/>
          </a:bodyPr>
          <a:lstStyle/>
          <a:p>
            <a:r>
              <a:rPr lang="en-US" sz="4000" b="1" dirty="0" smtClean="0">
                <a:latin typeface="Times New Roman" pitchFamily="18" charset="0"/>
                <a:cs typeface="Times New Roman" pitchFamily="18" charset="0"/>
              </a:rPr>
              <a:t>Carrier Sense Multiple Access(CSMA)</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1371601"/>
            <a:ext cx="8686800" cy="5029199"/>
          </a:xfrm>
        </p:spPr>
        <p:txBody>
          <a:bodyPr/>
          <a:lstStyle/>
          <a:p>
            <a:r>
              <a:rPr lang="en-US" dirty="0" smtClean="0">
                <a:latin typeface="Times New Roman" pitchFamily="18" charset="0"/>
                <a:cs typeface="Times New Roman" pitchFamily="18" charset="0"/>
              </a:rPr>
              <a:t>Each station first listen to the medium before sending.</a:t>
            </a:r>
          </a:p>
          <a:p>
            <a:r>
              <a:rPr lang="en-US" dirty="0" smtClean="0">
                <a:latin typeface="Times New Roman" pitchFamily="18" charset="0"/>
                <a:cs typeface="Times New Roman" pitchFamily="18" charset="0"/>
              </a:rPr>
              <a:t>Minimize the chance of collision, increase the performance.</a:t>
            </a:r>
          </a:p>
          <a:p>
            <a:r>
              <a:rPr lang="en-US" dirty="0" smtClean="0">
                <a:latin typeface="Times New Roman" pitchFamily="18" charset="0"/>
                <a:cs typeface="Times New Roman" pitchFamily="18" charset="0"/>
              </a:rPr>
              <a:t>The principle is “sense before transmit”.</a:t>
            </a:r>
          </a:p>
          <a:p>
            <a:r>
              <a:rPr lang="en-US" dirty="0" smtClean="0">
                <a:latin typeface="Times New Roman" pitchFamily="18" charset="0"/>
                <a:cs typeface="Times New Roman" pitchFamily="18" charset="0"/>
              </a:rPr>
              <a:t>It reduces the possibility of collision, cannot eliminate it.</a:t>
            </a:r>
          </a:p>
          <a:p>
            <a:r>
              <a:rPr lang="en-US" dirty="0" smtClean="0">
                <a:latin typeface="Times New Roman" pitchFamily="18" charset="0"/>
                <a:cs typeface="Times New Roman" pitchFamily="18" charset="0"/>
              </a:rPr>
              <a:t>A space and time model of a CSMA network</a:t>
            </a:r>
            <a:r>
              <a:rPr lang="en-US" dirty="0" smtClean="0"/>
              <a:t>.</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Space/time model of a collision in CSMA</a:t>
            </a:r>
            <a:endParaRPr lang="en-US" dirty="0">
              <a:latin typeface="Times New Roman" pitchFamily="18" charset="0"/>
              <a:cs typeface="Times New Roman" pitchFamily="18" charset="0"/>
            </a:endParaRPr>
          </a:p>
        </p:txBody>
      </p:sp>
      <p:pic>
        <p:nvPicPr>
          <p:cNvPr id="4" name="Picture 2"/>
          <p:cNvPicPr>
            <a:picLocks noGrp="1" noChangeAspect="1" noChangeArrowheads="1"/>
          </p:cNvPicPr>
          <p:nvPr>
            <p:ph idx="1"/>
          </p:nvPr>
        </p:nvPicPr>
        <p:blipFill>
          <a:blip r:embed="rId2" cstate="print"/>
          <a:srcRect/>
          <a:stretch>
            <a:fillRect/>
          </a:stretch>
        </p:blipFill>
        <p:spPr bwMode="auto">
          <a:xfrm>
            <a:off x="533400" y="1524000"/>
            <a:ext cx="7200900" cy="4648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r>
              <a:rPr lang="en-US" dirty="0" smtClean="0">
                <a:latin typeface="Times New Roman" pitchFamily="18" charset="0"/>
                <a:cs typeface="Times New Roman" pitchFamily="18" charset="0"/>
              </a:rPr>
              <a:t>A station sends a frame, it takes time for the first bit to reach every station and to sense.</a:t>
            </a:r>
          </a:p>
          <a:p>
            <a:r>
              <a:rPr lang="en-US" dirty="0" smtClean="0">
                <a:latin typeface="Times New Roman" pitchFamily="18" charset="0"/>
                <a:cs typeface="Times New Roman" pitchFamily="18" charset="0"/>
              </a:rPr>
              <a:t>At time t1, station B senses the medium and finds it idle, so it sends a frame. </a:t>
            </a:r>
          </a:p>
          <a:p>
            <a:r>
              <a:rPr lang="en-US" dirty="0" smtClean="0">
                <a:latin typeface="Times New Roman" pitchFamily="18" charset="0"/>
                <a:cs typeface="Times New Roman" pitchFamily="18" charset="0"/>
              </a:rPr>
              <a:t>At time t2 (t2 &gt; t1), station C senses the medium and finds it idle. </a:t>
            </a:r>
          </a:p>
          <a:p>
            <a:r>
              <a:rPr lang="en-US" dirty="0" smtClean="0">
                <a:latin typeface="Times New Roman" pitchFamily="18" charset="0"/>
                <a:cs typeface="Times New Roman" pitchFamily="18" charset="0"/>
              </a:rPr>
              <a:t>At this time, the first bits from station B have not reached station C.</a:t>
            </a:r>
          </a:p>
          <a:p>
            <a:r>
              <a:rPr lang="en-US" dirty="0" smtClean="0">
                <a:latin typeface="Times New Roman" pitchFamily="18" charset="0"/>
                <a:cs typeface="Times New Roman" pitchFamily="18" charset="0"/>
              </a:rPr>
              <a:t>Station C also sends a frame.</a:t>
            </a:r>
          </a:p>
          <a:p>
            <a:r>
              <a:rPr lang="en-US" dirty="0" smtClean="0">
                <a:latin typeface="Times New Roman" pitchFamily="18" charset="0"/>
                <a:cs typeface="Times New Roman" pitchFamily="18" charset="0"/>
              </a:rPr>
              <a:t>The two signals collide and both frames are destroyed.</a:t>
            </a:r>
          </a:p>
          <a:p>
            <a:r>
              <a:rPr lang="en-US" dirty="0" smtClean="0">
                <a:latin typeface="Times New Roman" pitchFamily="18" charset="0"/>
                <a:cs typeface="Times New Roman" pitchFamily="18" charset="0"/>
              </a:rPr>
              <a:t>The possibility of collision still there because of propagation delay.</a:t>
            </a:r>
          </a:p>
          <a:p>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dirty="0" smtClean="0">
                <a:latin typeface="Times New Roman" pitchFamily="18" charset="0"/>
                <a:cs typeface="Times New Roman" pitchFamily="18" charset="0"/>
              </a:rPr>
              <a:t>Vulnerable Time</a:t>
            </a:r>
            <a:endParaRPr lang="en-US" dirty="0"/>
          </a:p>
        </p:txBody>
      </p:sp>
      <p:sp>
        <p:nvSpPr>
          <p:cNvPr id="3" name="Content Placeholder 2"/>
          <p:cNvSpPr>
            <a:spLocks noGrp="1"/>
          </p:cNvSpPr>
          <p:nvPr>
            <p:ph idx="1"/>
          </p:nvPr>
        </p:nvSpPr>
        <p:spPr>
          <a:xfrm>
            <a:off x="0" y="838200"/>
            <a:ext cx="9144000" cy="5715000"/>
          </a:xfrm>
        </p:spPr>
        <p:txBody>
          <a:bodyPr>
            <a:normAutofit/>
          </a:bodyPr>
          <a:lstStyle/>
          <a:p>
            <a:r>
              <a:rPr lang="en-US" dirty="0" smtClean="0">
                <a:latin typeface="Times New Roman" pitchFamily="18" charset="0"/>
                <a:cs typeface="Times New Roman" pitchFamily="18" charset="0"/>
              </a:rPr>
              <a:t>The vulnerable time for CSMA is the </a:t>
            </a:r>
            <a:r>
              <a:rPr lang="en-US" b="1" i="1" dirty="0" smtClean="0">
                <a:latin typeface="Times New Roman" pitchFamily="18" charset="0"/>
                <a:cs typeface="Times New Roman" pitchFamily="18" charset="0"/>
              </a:rPr>
              <a:t>propagation time Tp.</a:t>
            </a:r>
          </a:p>
          <a:p>
            <a:r>
              <a:rPr lang="en-US" dirty="0" smtClean="0">
                <a:latin typeface="Times New Roman" pitchFamily="18" charset="0"/>
                <a:cs typeface="Times New Roman" pitchFamily="18" charset="0"/>
              </a:rPr>
              <a:t>The time needed for a signal to propagate from one end of the medium to the other.</a:t>
            </a:r>
          </a:p>
          <a:p>
            <a:r>
              <a:rPr lang="en-US" dirty="0" smtClean="0">
                <a:latin typeface="Times New Roman" pitchFamily="18" charset="0"/>
                <a:cs typeface="Times New Roman" pitchFamily="18" charset="0"/>
              </a:rPr>
              <a:t>A station sends a frame and any other station tries to send a frame during this time, a collision will result.</a:t>
            </a:r>
          </a:p>
          <a:p>
            <a:r>
              <a:rPr lang="en-US" dirty="0" smtClean="0">
                <a:latin typeface="Times New Roman" pitchFamily="18" charset="0"/>
                <a:cs typeface="Times New Roman" pitchFamily="18" charset="0"/>
              </a:rPr>
              <a:t>If the first bit of the frame reaches the end of the medium.</a:t>
            </a:r>
          </a:p>
          <a:p>
            <a:r>
              <a:rPr lang="en-US" dirty="0" smtClean="0">
                <a:latin typeface="Times New Roman" pitchFamily="18" charset="0"/>
                <a:cs typeface="Times New Roman" pitchFamily="18" charset="0"/>
              </a:rPr>
              <a:t>Every station have heard the bit and will refrain from sending.</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152400" y="35257"/>
            <a:ext cx="8610600" cy="5135563"/>
          </a:xfrm>
        </p:spPr>
        <p:txBody>
          <a:bodyPr/>
          <a:lstStyle/>
          <a:p>
            <a:r>
              <a:rPr lang="en-US" dirty="0" smtClean="0">
                <a:latin typeface="Times New Roman" pitchFamily="18" charset="0"/>
                <a:cs typeface="Times New Roman" pitchFamily="18" charset="0"/>
              </a:rPr>
              <a:t>Station A, sends a frame at time t1, which reaches the rightmost station, D at time t1 + Tp.</a:t>
            </a:r>
          </a:p>
          <a:p>
            <a:pPr>
              <a:buNone/>
            </a:pPr>
            <a:endParaRPr lang="en-US" dirty="0">
              <a:latin typeface="Times New Roman" pitchFamily="18" charset="0"/>
              <a:cs typeface="Times New Roman" pitchFamily="18" charset="0"/>
            </a:endParaRPr>
          </a:p>
        </p:txBody>
      </p:sp>
      <p:pic>
        <p:nvPicPr>
          <p:cNvPr id="8" name="Picture 7"/>
          <p:cNvPicPr>
            <a:picLocks noChangeAspect="1" noChangeArrowheads="1"/>
          </p:cNvPicPr>
          <p:nvPr/>
        </p:nvPicPr>
        <p:blipFill>
          <a:blip r:embed="rId2" cstate="print"/>
          <a:srcRect/>
          <a:stretch>
            <a:fillRect/>
          </a:stretch>
        </p:blipFill>
        <p:spPr bwMode="auto">
          <a:xfrm>
            <a:off x="184245" y="1752600"/>
            <a:ext cx="8839200" cy="4191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smtClean="0">
                <a:latin typeface="Times New Roman" pitchFamily="18" charset="0"/>
                <a:cs typeface="Times New Roman" pitchFamily="18" charset="0"/>
              </a:rPr>
              <a:t>Persistence Methods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983163"/>
          </a:xfrm>
        </p:spPr>
        <p:txBody>
          <a:bodyPr/>
          <a:lstStyle/>
          <a:p>
            <a:r>
              <a:rPr lang="en-US" dirty="0" smtClean="0">
                <a:latin typeface="Times New Roman" pitchFamily="18" charset="0"/>
                <a:cs typeface="Times New Roman" pitchFamily="18" charset="0"/>
              </a:rPr>
              <a:t>A station needs to find if the channel is busy or idle? </a:t>
            </a:r>
          </a:p>
          <a:p>
            <a:r>
              <a:rPr lang="en-US" dirty="0" smtClean="0">
                <a:latin typeface="Times New Roman" pitchFamily="18" charset="0"/>
                <a:cs typeface="Times New Roman" pitchFamily="18" charset="0"/>
              </a:rPr>
              <a:t>To do this, there are three persistence methods</a:t>
            </a:r>
          </a:p>
          <a:p>
            <a:r>
              <a:rPr lang="en-US" b="1" dirty="0" smtClean="0">
                <a:latin typeface="Times New Roman" pitchFamily="18" charset="0"/>
                <a:cs typeface="Times New Roman" pitchFamily="18" charset="0"/>
              </a:rPr>
              <a:t>1-persistent</a:t>
            </a:r>
          </a:p>
          <a:p>
            <a:r>
              <a:rPr lang="en-US" b="1" dirty="0" smtClean="0">
                <a:latin typeface="Times New Roman" pitchFamily="18" charset="0"/>
                <a:cs typeface="Times New Roman" pitchFamily="18" charset="0"/>
              </a:rPr>
              <a:t>Nonpersistent</a:t>
            </a:r>
          </a:p>
          <a:p>
            <a:r>
              <a:rPr lang="en-US" b="1" dirty="0" smtClean="0">
                <a:latin typeface="Times New Roman" pitchFamily="18" charset="0"/>
                <a:cs typeface="Times New Roman" pitchFamily="18" charset="0"/>
              </a:rPr>
              <a:t>p-persistent.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fontScale="90000"/>
          </a:bodyPr>
          <a:lstStyle/>
          <a:p>
            <a:r>
              <a:rPr lang="en-US" b="1" i="1" dirty="0" smtClean="0"/>
              <a:t/>
            </a:r>
            <a:br>
              <a:rPr lang="en-US" b="1" i="1" dirty="0" smtClean="0"/>
            </a:br>
            <a:r>
              <a:rPr lang="en-US" b="1" dirty="0" smtClean="0">
                <a:latin typeface="Times New Roman" pitchFamily="18" charset="0"/>
                <a:cs typeface="Times New Roman" pitchFamily="18" charset="0"/>
              </a:rPr>
              <a:t>1-Persistent</a:t>
            </a:r>
            <a:br>
              <a:rPr lang="en-US" b="1"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685800"/>
            <a:ext cx="8458200" cy="5791200"/>
          </a:xfrm>
        </p:spPr>
        <p:txBody>
          <a:bodyPr>
            <a:normAutofit/>
          </a:bodyPr>
          <a:lstStyle/>
          <a:p>
            <a:r>
              <a:rPr lang="en-US" dirty="0" smtClean="0">
                <a:latin typeface="Times New Roman" pitchFamily="18" charset="0"/>
                <a:cs typeface="Times New Roman" pitchFamily="18" charset="0"/>
              </a:rPr>
              <a:t>The station finds the line idle, it sends its frame immediately (with probability 1). </a:t>
            </a:r>
          </a:p>
          <a:p>
            <a:r>
              <a:rPr lang="en-US" dirty="0" smtClean="0">
                <a:latin typeface="Times New Roman" pitchFamily="18" charset="0"/>
                <a:cs typeface="Times New Roman" pitchFamily="18" charset="0"/>
              </a:rPr>
              <a:t>This method has more of collision because two or more stations may find the line idle.</a:t>
            </a:r>
          </a:p>
          <a:p>
            <a:r>
              <a:rPr lang="en-US" dirty="0" smtClean="0">
                <a:latin typeface="Times New Roman" pitchFamily="18" charset="0"/>
                <a:cs typeface="Times New Roman" pitchFamily="18" charset="0"/>
              </a:rPr>
              <a:t>It sends their frames immediately.</a:t>
            </a:r>
          </a:p>
          <a:p>
            <a:endParaRPr lang="en-US"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685800" y="4038600"/>
            <a:ext cx="3810000" cy="2057400"/>
          </a:xfrm>
          <a:prstGeom prst="rect">
            <a:avLst/>
          </a:prstGeom>
          <a:noFill/>
          <a:ln w="9525">
            <a:noFill/>
            <a:miter lim="800000"/>
            <a:headEnd/>
            <a:tailEnd/>
          </a:ln>
          <a:effectLst/>
        </p:spPr>
      </p:pic>
      <p:pic>
        <p:nvPicPr>
          <p:cNvPr id="5" name="Picture 3"/>
          <p:cNvPicPr>
            <a:picLocks noChangeAspect="1" noChangeArrowheads="1"/>
          </p:cNvPicPr>
          <p:nvPr/>
        </p:nvPicPr>
        <p:blipFill>
          <a:blip r:embed="rId3" cstate="print"/>
          <a:srcRect/>
          <a:stretch>
            <a:fillRect/>
          </a:stretch>
        </p:blipFill>
        <p:spPr bwMode="auto">
          <a:xfrm>
            <a:off x="5791200" y="4114800"/>
            <a:ext cx="2647950" cy="1943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b="1" dirty="0" smtClean="0">
                <a:latin typeface="Times New Roman" pitchFamily="18" charset="0"/>
                <a:cs typeface="Times New Roman" pitchFamily="18" charset="0"/>
              </a:rPr>
              <a:t>Nonpersistent</a:t>
            </a:r>
            <a:endParaRPr lang="en-US" dirty="0">
              <a:latin typeface="Times New Roman" pitchFamily="18" charset="0"/>
              <a:cs typeface="Times New Roman" pitchFamily="18" charset="0"/>
            </a:endParaRPr>
          </a:p>
        </p:txBody>
      </p:sp>
      <p:sp>
        <p:nvSpPr>
          <p:cNvPr id="6" name="Content Placeholder 5"/>
          <p:cNvSpPr>
            <a:spLocks noGrp="1"/>
          </p:cNvSpPr>
          <p:nvPr>
            <p:ph idx="1"/>
          </p:nvPr>
        </p:nvSpPr>
        <p:spPr>
          <a:xfrm>
            <a:off x="457200" y="914400"/>
            <a:ext cx="8229600" cy="5211763"/>
          </a:xfrm>
        </p:spPr>
        <p:txBody>
          <a:bodyPr>
            <a:normAutofit lnSpcReduction="10000"/>
          </a:bodyPr>
          <a:lstStyle/>
          <a:p>
            <a:r>
              <a:rPr lang="en-US" dirty="0" smtClean="0">
                <a:latin typeface="Times New Roman" pitchFamily="18" charset="0"/>
                <a:cs typeface="Times New Roman" pitchFamily="18" charset="0"/>
              </a:rPr>
              <a:t>A station has a frame to send senses the line. </a:t>
            </a:r>
          </a:p>
          <a:p>
            <a:r>
              <a:rPr lang="en-US" dirty="0" smtClean="0">
                <a:latin typeface="Times New Roman" pitchFamily="18" charset="0"/>
                <a:cs typeface="Times New Roman" pitchFamily="18" charset="0"/>
              </a:rPr>
              <a:t>If the line is idle, it sends immediately. </a:t>
            </a:r>
          </a:p>
          <a:p>
            <a:r>
              <a:rPr lang="en-US" dirty="0" smtClean="0">
                <a:latin typeface="Times New Roman" pitchFamily="18" charset="0"/>
                <a:cs typeface="Times New Roman" pitchFamily="18" charset="0"/>
              </a:rPr>
              <a:t>If not idle, waits a random amount of time and then senses again. </a:t>
            </a:r>
          </a:p>
          <a:p>
            <a:r>
              <a:rPr lang="en-US" dirty="0" smtClean="0">
                <a:latin typeface="Times New Roman" pitchFamily="18" charset="0"/>
                <a:cs typeface="Times New Roman" pitchFamily="18" charset="0"/>
              </a:rPr>
              <a:t>It reduces the chance of collision but if two or more stations will wait the same amount of time and retry to send simultaneously, it reduces the efficiency of the network as the medium remains idle when there are frames to send.</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304800" y="2438400"/>
            <a:ext cx="4495801" cy="2057400"/>
          </a:xfrm>
          <a:prstGeom prst="rect">
            <a:avLst/>
          </a:prstGeom>
          <a:noFill/>
          <a:ln w="9525">
            <a:noFill/>
            <a:miter lim="800000"/>
            <a:headEnd/>
            <a:tailEnd/>
          </a:ln>
          <a:effectLst/>
        </p:spPr>
      </p:pic>
      <p:pic>
        <p:nvPicPr>
          <p:cNvPr id="3075" name="Picture 3"/>
          <p:cNvPicPr>
            <a:picLocks noGrp="1" noChangeAspect="1" noChangeArrowheads="1"/>
          </p:cNvPicPr>
          <p:nvPr>
            <p:ph idx="1"/>
          </p:nvPr>
        </p:nvPicPr>
        <p:blipFill>
          <a:blip r:embed="rId3" cstate="print"/>
          <a:srcRect/>
          <a:stretch>
            <a:fillRect/>
          </a:stretch>
        </p:blipFill>
        <p:spPr bwMode="auto">
          <a:xfrm>
            <a:off x="4953000" y="1752600"/>
            <a:ext cx="3924300"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b="1" dirty="0" smtClean="0">
                <a:latin typeface="Times New Roman" pitchFamily="18" charset="0"/>
                <a:cs typeface="Times New Roman" pitchFamily="18" charset="0"/>
              </a:rPr>
              <a:t>p</a:t>
            </a:r>
            <a:r>
              <a:rPr lang="en-US" b="1" i="1" dirty="0" smtClean="0">
                <a:latin typeface="Times New Roman" pitchFamily="18" charset="0"/>
                <a:cs typeface="Times New Roman" pitchFamily="18" charset="0"/>
              </a:rPr>
              <a:t>-Persistent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0" y="914400"/>
            <a:ext cx="9144000" cy="5943600"/>
          </a:xfrm>
        </p:spPr>
        <p:txBody>
          <a:bodyPr>
            <a:noAutofit/>
          </a:bodyPr>
          <a:lstStyle/>
          <a:p>
            <a:r>
              <a:rPr lang="en-US" sz="3000" dirty="0" smtClean="0">
                <a:latin typeface="Times New Roman" pitchFamily="18" charset="0"/>
                <a:cs typeface="Times New Roman" pitchFamily="18" charset="0"/>
              </a:rPr>
              <a:t>It is used if the channel has time slots with , slot duration &gt;=maximum propagation time.</a:t>
            </a:r>
          </a:p>
          <a:p>
            <a:r>
              <a:rPr lang="en-US" sz="3000" dirty="0" smtClean="0">
                <a:latin typeface="Times New Roman" pitchFamily="18" charset="0"/>
                <a:cs typeface="Times New Roman" pitchFamily="18" charset="0"/>
              </a:rPr>
              <a:t>It reduces the chance of collision and improves efficiency.</a:t>
            </a:r>
          </a:p>
          <a:p>
            <a:r>
              <a:rPr lang="en-US" sz="3000" dirty="0" smtClean="0">
                <a:latin typeface="Times New Roman" pitchFamily="18" charset="0"/>
                <a:cs typeface="Times New Roman" pitchFamily="18" charset="0"/>
              </a:rPr>
              <a:t>The station finds the line idle it follows these steps:</a:t>
            </a:r>
          </a:p>
          <a:p>
            <a:pPr lvl="1"/>
            <a:r>
              <a:rPr lang="en-US" sz="2600" dirty="0">
                <a:latin typeface="Times New Roman" pitchFamily="18" charset="0"/>
                <a:cs typeface="Times New Roman" pitchFamily="18" charset="0"/>
              </a:rPr>
              <a:t>P</a:t>
            </a:r>
            <a:r>
              <a:rPr lang="en-US" sz="2600" dirty="0" smtClean="0">
                <a:latin typeface="Times New Roman" pitchFamily="18" charset="0"/>
                <a:cs typeface="Times New Roman" pitchFamily="18" charset="0"/>
              </a:rPr>
              <a:t>robability p, the station sends its frame.</a:t>
            </a:r>
          </a:p>
          <a:p>
            <a:pPr lvl="1"/>
            <a:r>
              <a:rPr lang="en-US" sz="2600" dirty="0">
                <a:latin typeface="Times New Roman" pitchFamily="18" charset="0"/>
                <a:cs typeface="Times New Roman" pitchFamily="18" charset="0"/>
              </a:rPr>
              <a:t>P</a:t>
            </a:r>
            <a:r>
              <a:rPr lang="en-US" sz="2600" dirty="0" smtClean="0">
                <a:latin typeface="Times New Roman" pitchFamily="18" charset="0"/>
                <a:cs typeface="Times New Roman" pitchFamily="18" charset="0"/>
              </a:rPr>
              <a:t>robability q = 1 − p, the station waits for the beginning of the next time slot and checks the line again.</a:t>
            </a:r>
          </a:p>
          <a:p>
            <a:pPr lvl="1">
              <a:buNone/>
            </a:pPr>
            <a:r>
              <a:rPr lang="en-US" sz="2600" dirty="0" smtClean="0">
                <a:latin typeface="Times New Roman" pitchFamily="18" charset="0"/>
                <a:cs typeface="Times New Roman" pitchFamily="18" charset="0"/>
              </a:rPr>
              <a:t>		a. If the line is idle, it goes to step 1.</a:t>
            </a:r>
          </a:p>
          <a:p>
            <a:pPr lvl="1">
              <a:buNone/>
            </a:pPr>
            <a:r>
              <a:rPr lang="en-US" sz="2600" dirty="0" smtClean="0">
                <a:latin typeface="Times New Roman" pitchFamily="18" charset="0"/>
                <a:cs typeface="Times New Roman" pitchFamily="18" charset="0"/>
              </a:rPr>
              <a:t>		b. If the line is busy, a collision occurred and uses the     	    </a:t>
            </a:r>
            <a:r>
              <a:rPr lang="en-US" sz="2600" dirty="0" err="1" smtClean="0">
                <a:latin typeface="Times New Roman" pitchFamily="18" charset="0"/>
                <a:cs typeface="Times New Roman" pitchFamily="18" charset="0"/>
              </a:rPr>
              <a:t>backoff</a:t>
            </a:r>
            <a:r>
              <a:rPr lang="en-US" sz="2600" dirty="0" smtClean="0">
                <a:latin typeface="Times New Roman" pitchFamily="18" charset="0"/>
                <a:cs typeface="Times New Roman" pitchFamily="18" charset="0"/>
              </a:rPr>
              <a:t> procedure.</a:t>
            </a: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1905000"/>
            <a:ext cx="9144000"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latin typeface="Times New Roman" pitchFamily="18" charset="0"/>
                <a:cs typeface="Times New Roman" pitchFamily="18" charset="0"/>
              </a:rPr>
              <a:t>Flow diagram</a:t>
            </a:r>
            <a:endParaRPr lang="en-US" dirty="0">
              <a:latin typeface="Times New Roman" pitchFamily="18" charset="0"/>
              <a:cs typeface="Times New Roman" pitchFamily="18" charset="0"/>
            </a:endParaRPr>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305252" y="1219200"/>
            <a:ext cx="8502160" cy="49529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Autofit/>
          </a:bodyPr>
          <a:lstStyle/>
          <a:p>
            <a:r>
              <a:rPr lang="en-US" sz="3200" b="1" dirty="0" smtClean="0">
                <a:latin typeface="Times New Roman" pitchFamily="18" charset="0"/>
                <a:cs typeface="Times New Roman" pitchFamily="18" charset="0"/>
              </a:rPr>
              <a:t>Carrier Sense Multiple Access with Collision Detection</a:t>
            </a:r>
            <a:endParaRPr lang="en-US" sz="3200" dirty="0">
              <a:latin typeface="Times New Roman" pitchFamily="18" charset="0"/>
              <a:cs typeface="Times New Roman" pitchFamily="18" charset="0"/>
            </a:endParaRPr>
          </a:p>
        </p:txBody>
      </p:sp>
      <p:sp>
        <p:nvSpPr>
          <p:cNvPr id="7" name="Content Placeholder 6"/>
          <p:cNvSpPr>
            <a:spLocks noGrp="1"/>
          </p:cNvSpPr>
          <p:nvPr>
            <p:ph idx="1"/>
          </p:nvPr>
        </p:nvSpPr>
        <p:spPr>
          <a:xfrm>
            <a:off x="152400" y="914400"/>
            <a:ext cx="8534400" cy="5486400"/>
          </a:xfrm>
        </p:spPr>
        <p:txBody>
          <a:bodyPr/>
          <a:lstStyle/>
          <a:p>
            <a:r>
              <a:rPr lang="en-US" sz="2800" dirty="0" smtClean="0">
                <a:latin typeface="Times New Roman" pitchFamily="18" charset="0"/>
                <a:cs typeface="Times New Roman" pitchFamily="18" charset="0"/>
              </a:rPr>
              <a:t>A station monitors the medium after it sends a frame. </a:t>
            </a:r>
          </a:p>
          <a:p>
            <a:r>
              <a:rPr lang="en-US" sz="2800" dirty="0" smtClean="0">
                <a:latin typeface="Times New Roman" pitchFamily="18" charset="0"/>
                <a:cs typeface="Times New Roman" pitchFamily="18" charset="0"/>
              </a:rPr>
              <a:t>If the transmission was successful or not</a:t>
            </a:r>
          </a:p>
          <a:p>
            <a:r>
              <a:rPr lang="en-US" sz="2800" dirty="0" smtClean="0">
                <a:latin typeface="Times New Roman" pitchFamily="18" charset="0"/>
                <a:cs typeface="Times New Roman" pitchFamily="18" charset="0"/>
              </a:rPr>
              <a:t>If there is a collision, the frame is sent again</a:t>
            </a:r>
            <a:r>
              <a:rPr lang="en-US" sz="2800" dirty="0" smtClean="0"/>
              <a:t>.</a:t>
            </a:r>
          </a:p>
          <a:p>
            <a:endParaRPr lang="en-US" dirty="0"/>
          </a:p>
        </p:txBody>
      </p:sp>
      <p:pic>
        <p:nvPicPr>
          <p:cNvPr id="8" name="Picture 2"/>
          <p:cNvPicPr>
            <a:picLocks noChangeAspect="1" noChangeArrowheads="1"/>
          </p:cNvPicPr>
          <p:nvPr/>
        </p:nvPicPr>
        <p:blipFill>
          <a:blip r:embed="rId2" cstate="print"/>
          <a:stretch>
            <a:fillRect/>
          </a:stretch>
        </p:blipFill>
        <p:spPr bwMode="auto">
          <a:xfrm>
            <a:off x="304800" y="2514600"/>
            <a:ext cx="8534400"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8915400" cy="6172200"/>
          </a:xfrm>
        </p:spPr>
        <p:txBody>
          <a:bodyPr>
            <a:noAutofit/>
          </a:bodyPr>
          <a:lstStyle/>
          <a:p>
            <a:r>
              <a:rPr lang="en-US" sz="2800" dirty="0" smtClean="0">
                <a:latin typeface="Times New Roman" pitchFamily="18" charset="0"/>
                <a:cs typeface="Times New Roman" pitchFamily="18" charset="0"/>
              </a:rPr>
              <a:t>At time t1, station A has executed its persistence procedure and starts sending the bits of its frame. </a:t>
            </a:r>
          </a:p>
          <a:p>
            <a:r>
              <a:rPr lang="en-US" sz="2800" dirty="0" smtClean="0">
                <a:latin typeface="Times New Roman" pitchFamily="18" charset="0"/>
                <a:cs typeface="Times New Roman" pitchFamily="18" charset="0"/>
              </a:rPr>
              <a:t>At time t2, station C has not yet sensed the first bit . Station C executes its persistence procedure and starts sending the bits in its frame.</a:t>
            </a:r>
          </a:p>
          <a:p>
            <a:pPr>
              <a:buNone/>
            </a:pPr>
            <a:r>
              <a:rPr lang="en-US" sz="2800" dirty="0" smtClean="0">
                <a:latin typeface="Times New Roman" pitchFamily="18" charset="0"/>
                <a:cs typeface="Times New Roman" pitchFamily="18" charset="0"/>
              </a:rPr>
              <a:t>The collision occurs sometime after time t2. </a:t>
            </a:r>
          </a:p>
          <a:p>
            <a:r>
              <a:rPr lang="en-US" sz="2800" dirty="0" smtClean="0">
                <a:latin typeface="Times New Roman" pitchFamily="18" charset="0"/>
                <a:cs typeface="Times New Roman" pitchFamily="18" charset="0"/>
              </a:rPr>
              <a:t>Station C detects a collision at time t3 when it receives the first bit of A’s frame. </a:t>
            </a:r>
          </a:p>
          <a:p>
            <a:r>
              <a:rPr lang="en-US" sz="2800" dirty="0" smtClean="0">
                <a:latin typeface="Times New Roman" pitchFamily="18" charset="0"/>
                <a:cs typeface="Times New Roman" pitchFamily="18" charset="0"/>
              </a:rPr>
              <a:t>Station C aborts transmission. </a:t>
            </a:r>
          </a:p>
          <a:p>
            <a:r>
              <a:rPr lang="en-US" sz="2800" dirty="0" smtClean="0">
                <a:latin typeface="Times New Roman" pitchFamily="18" charset="0"/>
                <a:cs typeface="Times New Roman" pitchFamily="18" charset="0"/>
              </a:rPr>
              <a:t>Station A detects collision at time t4 when it receives the first bit of C’s frame it also immediately aborts transmission. </a:t>
            </a:r>
          </a:p>
          <a:p>
            <a:r>
              <a:rPr lang="en-US" sz="2800" dirty="0" smtClean="0">
                <a:latin typeface="Times New Roman" pitchFamily="18" charset="0"/>
                <a:cs typeface="Times New Roman" pitchFamily="18" charset="0"/>
              </a:rPr>
              <a:t>A transmits for the duration t4 − t1</a:t>
            </a:r>
          </a:p>
          <a:p>
            <a:r>
              <a:rPr lang="en-US" sz="2800" dirty="0" smtClean="0">
                <a:latin typeface="Times New Roman" pitchFamily="18" charset="0"/>
                <a:cs typeface="Times New Roman" pitchFamily="18" charset="0"/>
              </a:rPr>
              <a:t>C transmits for the duration t3 − t2.</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smtClean="0"/>
              <a:t>Flow diagram for the CSMA/CD</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305214" y="762000"/>
            <a:ext cx="8533986" cy="563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9144000" cy="6705600"/>
          </a:xfrm>
        </p:spPr>
        <p:txBody>
          <a:bodyPr>
            <a:normAutofit/>
          </a:bodyPr>
          <a:lstStyle/>
          <a:p>
            <a:r>
              <a:rPr lang="en-US" dirty="0" smtClean="0">
                <a:latin typeface="Times New Roman" pitchFamily="18" charset="0"/>
                <a:cs typeface="Times New Roman" pitchFamily="18" charset="0"/>
              </a:rPr>
              <a:t>It is similar to the one for the ALOHA protocol, but there are differences.</a:t>
            </a:r>
          </a:p>
          <a:p>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Sense the channel before start sending the frame by using one of the persistence processes</a:t>
            </a:r>
          </a:p>
          <a:p>
            <a:pPr marL="514350" indent="-514350">
              <a:buFont typeface="+mj-lt"/>
              <a:buAutoNum type="arabicPeriod"/>
            </a:pPr>
            <a:r>
              <a:rPr lang="en-US" dirty="0" smtClean="0">
                <a:latin typeface="Times New Roman" pitchFamily="18" charset="0"/>
                <a:cs typeface="Times New Roman" pitchFamily="18" charset="0"/>
              </a:rPr>
              <a:t>In CSMA/CD, transmission and collision detection are continuous processes. It constantly monitors to detect either transmission is finished or a collision is detected.</a:t>
            </a:r>
          </a:p>
          <a:p>
            <a:pPr marL="514350" indent="-514350">
              <a:buFont typeface="+mj-lt"/>
              <a:buAutoNum type="arabicPeriod"/>
            </a:pPr>
            <a:r>
              <a:rPr lang="en-US" dirty="0" smtClean="0">
                <a:latin typeface="Times New Roman" pitchFamily="18" charset="0"/>
                <a:cs typeface="Times New Roman" pitchFamily="18" charset="0"/>
              </a:rPr>
              <a:t>Sending a </a:t>
            </a:r>
            <a:r>
              <a:rPr lang="en-US" b="1" dirty="0" smtClean="0">
                <a:latin typeface="Times New Roman" pitchFamily="18" charset="0"/>
                <a:cs typeface="Times New Roman" pitchFamily="18" charset="0"/>
              </a:rPr>
              <a:t>jamming signal </a:t>
            </a:r>
            <a:r>
              <a:rPr lang="en-US" dirty="0" smtClean="0">
                <a:latin typeface="Times New Roman" pitchFamily="18" charset="0"/>
                <a:cs typeface="Times New Roman" pitchFamily="18" charset="0"/>
              </a:rPr>
              <a:t>to make sure that all other stations become aware of the collision.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t>Minimum Frame Size</a:t>
            </a:r>
            <a:endParaRPr lang="en-US" dirty="0"/>
          </a:p>
        </p:txBody>
      </p:sp>
      <p:sp>
        <p:nvSpPr>
          <p:cNvPr id="3" name="Content Placeholder 2"/>
          <p:cNvSpPr>
            <a:spLocks noGrp="1"/>
          </p:cNvSpPr>
          <p:nvPr>
            <p:ph idx="1"/>
          </p:nvPr>
        </p:nvSpPr>
        <p:spPr>
          <a:xfrm>
            <a:off x="0" y="685800"/>
            <a:ext cx="9144000" cy="6172200"/>
          </a:xfrm>
        </p:spPr>
        <p:txBody>
          <a:bodyPr>
            <a:normAutofit fontScale="92500" lnSpcReduction="10000"/>
          </a:bodyPr>
          <a:lstStyle/>
          <a:p>
            <a:r>
              <a:rPr lang="en-US" dirty="0" smtClean="0">
                <a:latin typeface="Times New Roman" pitchFamily="18" charset="0"/>
                <a:cs typeface="Times New Roman" pitchFamily="18" charset="0"/>
              </a:rPr>
              <a:t>In CSMA/CD, before sending the last bit of the frame, the sending station must detect a collision, if any, abort the transmission.</a:t>
            </a:r>
          </a:p>
          <a:p>
            <a:r>
              <a:rPr lang="en-US" dirty="0" smtClean="0">
                <a:latin typeface="Times New Roman" pitchFamily="18" charset="0"/>
                <a:cs typeface="Times New Roman" pitchFamily="18" charset="0"/>
              </a:rPr>
              <a:t>The frame transmission time </a:t>
            </a:r>
            <a:r>
              <a:rPr lang="en-US" dirty="0" err="1" smtClean="0">
                <a:latin typeface="Times New Roman" pitchFamily="18" charset="0"/>
                <a:cs typeface="Times New Roman" pitchFamily="18" charset="0"/>
              </a:rPr>
              <a:t>T</a:t>
            </a:r>
            <a:r>
              <a:rPr lang="en-US" sz="1800" dirty="0" err="1" smtClean="0">
                <a:latin typeface="Times New Roman" pitchFamily="18" charset="0"/>
                <a:cs typeface="Times New Roman" pitchFamily="18" charset="0"/>
              </a:rPr>
              <a:t>fr</a:t>
            </a:r>
            <a:r>
              <a:rPr lang="en-US" dirty="0" smtClean="0">
                <a:latin typeface="Times New Roman" pitchFamily="18" charset="0"/>
                <a:cs typeface="Times New Roman" pitchFamily="18" charset="0"/>
              </a:rPr>
              <a:t> is at least two times the maximum propagation time Tp.</a:t>
            </a:r>
          </a:p>
          <a:p>
            <a:endParaRPr lang="en-US" dirty="0" smtClean="0">
              <a:latin typeface="Times New Roman" pitchFamily="18" charset="0"/>
              <a:cs typeface="Times New Roman" pitchFamily="18" charset="0"/>
            </a:endParaRPr>
          </a:p>
          <a:p>
            <a:pPr>
              <a:buNone/>
            </a:pPr>
            <a:r>
              <a:rPr lang="en-US" dirty="0" smtClean="0"/>
              <a:t>	</a:t>
            </a:r>
            <a:r>
              <a:rPr lang="en-US" dirty="0" err="1" smtClean="0"/>
              <a:t>Eg</a:t>
            </a:r>
            <a:r>
              <a:rPr lang="en-US" dirty="0" smtClean="0"/>
              <a:t>: Network using CSMA/CD has a bandwidth of 10 Mbps. If the maximum propagation time is 25.6 </a:t>
            </a:r>
            <a:r>
              <a:rPr lang="en-US" dirty="0" err="1" smtClean="0"/>
              <a:t>μs</a:t>
            </a:r>
            <a:r>
              <a:rPr lang="en-US" dirty="0" smtClean="0"/>
              <a:t>, what is the minimum size of the frame?</a:t>
            </a:r>
          </a:p>
          <a:p>
            <a:pPr>
              <a:buNone/>
            </a:pPr>
            <a:r>
              <a:rPr lang="en-US" dirty="0" smtClean="0"/>
              <a:t>	The minimum frame transmission time </a:t>
            </a:r>
          </a:p>
          <a:p>
            <a:pPr>
              <a:buNone/>
            </a:pPr>
            <a:r>
              <a:rPr lang="en-US" dirty="0" smtClean="0"/>
              <a:t>     </a:t>
            </a:r>
            <a:r>
              <a:rPr lang="en-US" i="1" dirty="0" err="1" smtClean="0"/>
              <a:t>Tfr</a:t>
            </a:r>
            <a:r>
              <a:rPr lang="en-US" i="1" dirty="0" smtClean="0"/>
              <a:t> = 2 × </a:t>
            </a:r>
            <a:r>
              <a:rPr lang="en-US" i="1" dirty="0" err="1" smtClean="0"/>
              <a:t>Tp</a:t>
            </a:r>
            <a:r>
              <a:rPr lang="en-US" i="1" dirty="0" smtClean="0"/>
              <a:t> = 51.2 </a:t>
            </a:r>
            <a:r>
              <a:rPr lang="en-US" i="1" dirty="0" err="1" smtClean="0"/>
              <a:t>μs</a:t>
            </a:r>
            <a:r>
              <a:rPr lang="en-US" i="1" dirty="0" smtClean="0"/>
              <a:t>.</a:t>
            </a:r>
          </a:p>
          <a:p>
            <a:pPr>
              <a:buNone/>
            </a:pPr>
            <a:r>
              <a:rPr lang="en-US" dirty="0" smtClean="0"/>
              <a:t>	The minimum size of the frame  </a:t>
            </a:r>
          </a:p>
          <a:p>
            <a:pPr>
              <a:buNone/>
            </a:pPr>
            <a:r>
              <a:rPr lang="en-US" dirty="0" smtClean="0"/>
              <a:t>	10 Mbps × 51.2 </a:t>
            </a:r>
            <a:r>
              <a:rPr lang="en-US" dirty="0" err="1" smtClean="0"/>
              <a:t>μs</a:t>
            </a:r>
            <a:r>
              <a:rPr lang="en-US" dirty="0" smtClean="0"/>
              <a:t> = 512 bits or 64 bytes(Ethernet).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smtClean="0"/>
              <a:t>Energy</a:t>
            </a:r>
            <a:r>
              <a:rPr lang="en-US" b="1" i="1" dirty="0" smtClean="0"/>
              <a:t> </a:t>
            </a:r>
            <a:r>
              <a:rPr lang="en-US" dirty="0" smtClean="0"/>
              <a:t>Level</a:t>
            </a:r>
            <a:endParaRPr lang="en-US" dirty="0"/>
          </a:p>
        </p:txBody>
      </p:sp>
      <p:sp>
        <p:nvSpPr>
          <p:cNvPr id="3" name="Content Placeholder 2"/>
          <p:cNvSpPr>
            <a:spLocks noGrp="1"/>
          </p:cNvSpPr>
          <p:nvPr>
            <p:ph idx="1"/>
          </p:nvPr>
        </p:nvSpPr>
        <p:spPr>
          <a:xfrm>
            <a:off x="0" y="609600"/>
            <a:ext cx="9144000" cy="6248400"/>
          </a:xfrm>
        </p:spPr>
        <p:txBody>
          <a:bodyPr>
            <a:normAutofit/>
          </a:bodyPr>
          <a:lstStyle/>
          <a:p>
            <a:r>
              <a:rPr lang="en-US" sz="2800" dirty="0" smtClean="0">
                <a:latin typeface="Times New Roman" pitchFamily="18" charset="0"/>
                <a:cs typeface="Times New Roman" pitchFamily="18" charset="0"/>
              </a:rPr>
              <a:t>The level of energy in a channel can have three values: zero, normal, abnormal.</a:t>
            </a:r>
          </a:p>
          <a:p>
            <a:r>
              <a:rPr lang="en-US" sz="2800" dirty="0" smtClean="0">
                <a:latin typeface="Times New Roman" pitchFamily="18" charset="0"/>
                <a:cs typeface="Times New Roman" pitchFamily="18" charset="0"/>
              </a:rPr>
              <a:t> At the </a:t>
            </a:r>
            <a:r>
              <a:rPr lang="en-US" sz="2800" b="1" dirty="0">
                <a:latin typeface="Times New Roman" pitchFamily="18" charset="0"/>
                <a:cs typeface="Times New Roman" pitchFamily="18" charset="0"/>
              </a:rPr>
              <a:t>Z</a:t>
            </a:r>
            <a:r>
              <a:rPr lang="en-US" sz="2800" b="1" dirty="0" smtClean="0">
                <a:latin typeface="Times New Roman" pitchFamily="18" charset="0"/>
                <a:cs typeface="Times New Roman" pitchFamily="18" charset="0"/>
              </a:rPr>
              <a:t>ero level</a:t>
            </a:r>
            <a:r>
              <a:rPr lang="en-US" sz="2800" dirty="0" smtClean="0">
                <a:latin typeface="Times New Roman" pitchFamily="18" charset="0"/>
                <a:cs typeface="Times New Roman" pitchFamily="18" charset="0"/>
              </a:rPr>
              <a:t>, the channel is idle.</a:t>
            </a:r>
          </a:p>
          <a:p>
            <a:r>
              <a:rPr lang="en-US" sz="2800" dirty="0" smtClean="0">
                <a:latin typeface="Times New Roman" pitchFamily="18" charset="0"/>
                <a:cs typeface="Times New Roman" pitchFamily="18" charset="0"/>
              </a:rPr>
              <a:t>At the </a:t>
            </a:r>
            <a:r>
              <a:rPr lang="en-US" sz="2800" b="1" dirty="0" smtClean="0">
                <a:latin typeface="Times New Roman" pitchFamily="18" charset="0"/>
                <a:cs typeface="Times New Roman" pitchFamily="18" charset="0"/>
              </a:rPr>
              <a:t>Normal level</a:t>
            </a:r>
            <a:r>
              <a:rPr lang="en-US" sz="2800" dirty="0" smtClean="0">
                <a:latin typeface="Times New Roman" pitchFamily="18" charset="0"/>
                <a:cs typeface="Times New Roman" pitchFamily="18" charset="0"/>
              </a:rPr>
              <a:t>, a station has successfully sending its frame. </a:t>
            </a:r>
          </a:p>
          <a:p>
            <a:r>
              <a:rPr lang="en-US" sz="2800" dirty="0" smtClean="0">
                <a:latin typeface="Times New Roman" pitchFamily="18" charset="0"/>
                <a:cs typeface="Times New Roman" pitchFamily="18" charset="0"/>
              </a:rPr>
              <a:t>At the </a:t>
            </a:r>
            <a:r>
              <a:rPr lang="en-US" sz="2800" b="1" dirty="0" smtClean="0">
                <a:latin typeface="Times New Roman" pitchFamily="18" charset="0"/>
                <a:cs typeface="Times New Roman" pitchFamily="18" charset="0"/>
              </a:rPr>
              <a:t>Abnormal level</a:t>
            </a:r>
            <a:r>
              <a:rPr lang="en-US" sz="2800" dirty="0" smtClean="0">
                <a:latin typeface="Times New Roman" pitchFamily="18" charset="0"/>
                <a:cs typeface="Times New Roman" pitchFamily="18" charset="0"/>
              </a:rPr>
              <a:t>, there is a collision and the level of the energy is twice the normal level. </a:t>
            </a:r>
          </a:p>
          <a:p>
            <a:r>
              <a:rPr lang="en-US" sz="2800" dirty="0" smtClean="0">
                <a:latin typeface="Times New Roman" pitchFamily="18" charset="0"/>
                <a:cs typeface="Times New Roman" pitchFamily="18" charset="0"/>
              </a:rPr>
              <a:t>A station that has a frame to send needs to monitor the energy level if the channel is idle, busy, or in collision mode.</a:t>
            </a:r>
            <a:endParaRPr lang="en-US" sz="28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1905000" y="5362575"/>
            <a:ext cx="5734050" cy="1495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Throughput</a:t>
            </a:r>
            <a:endParaRPr lang="en-US" dirty="0"/>
          </a:p>
        </p:txBody>
      </p:sp>
      <p:sp>
        <p:nvSpPr>
          <p:cNvPr id="3" name="Content Placeholder 2"/>
          <p:cNvSpPr>
            <a:spLocks noGrp="1"/>
          </p:cNvSpPr>
          <p:nvPr>
            <p:ph idx="1"/>
          </p:nvPr>
        </p:nvSpPr>
        <p:spPr>
          <a:xfrm>
            <a:off x="0" y="1066800"/>
            <a:ext cx="9144000" cy="5486400"/>
          </a:xfrm>
        </p:spPr>
        <p:txBody>
          <a:bodyPr>
            <a:normAutofit/>
          </a:bodyPr>
          <a:lstStyle/>
          <a:p>
            <a:r>
              <a:rPr lang="en-US" dirty="0" smtClean="0"/>
              <a:t>The throughput of CSMA/CD is greater than that </a:t>
            </a:r>
            <a:r>
              <a:rPr lang="en-US" dirty="0" smtClean="0">
                <a:latin typeface="Times New Roman" pitchFamily="18" charset="0"/>
                <a:cs typeface="Times New Roman" pitchFamily="18" charset="0"/>
              </a:rPr>
              <a:t>of pure or slotted ALOHA. </a:t>
            </a:r>
          </a:p>
          <a:p>
            <a:r>
              <a:rPr lang="en-US" dirty="0" smtClean="0">
                <a:latin typeface="Times New Roman" pitchFamily="18" charset="0"/>
                <a:cs typeface="Times New Roman" pitchFamily="18" charset="0"/>
              </a:rPr>
              <a:t>The maximum throughput occurs at a different value of G ,based on the persistence method</a:t>
            </a:r>
          </a:p>
          <a:p>
            <a:r>
              <a:rPr lang="en-US" dirty="0" smtClean="0">
                <a:latin typeface="Times New Roman" pitchFamily="18" charset="0"/>
                <a:cs typeface="Times New Roman" pitchFamily="18" charset="0"/>
              </a:rPr>
              <a:t>For 1-persistent method, the maximum throughput is around 50 percent when G = 1. </a:t>
            </a:r>
          </a:p>
          <a:p>
            <a:r>
              <a:rPr lang="en-US" dirty="0" smtClean="0">
                <a:latin typeface="Times New Roman" pitchFamily="18" charset="0"/>
                <a:cs typeface="Times New Roman" pitchFamily="18" charset="0"/>
              </a:rPr>
              <a:t>For </a:t>
            </a:r>
            <a:r>
              <a:rPr lang="en-US" dirty="0">
                <a:latin typeface="Times New Roman" pitchFamily="18" charset="0"/>
                <a:cs typeface="Times New Roman" pitchFamily="18" charset="0"/>
              </a:rPr>
              <a:t>N</a:t>
            </a:r>
            <a:r>
              <a:rPr lang="en-US" dirty="0" smtClean="0">
                <a:latin typeface="Times New Roman" pitchFamily="18" charset="0"/>
                <a:cs typeface="Times New Roman" pitchFamily="18" charset="0"/>
              </a:rPr>
              <a:t>onpersistent method, the maximum throughput can go up to 90 percent when G is between 3 and 8.</a:t>
            </a:r>
          </a:p>
          <a:p>
            <a:r>
              <a:rPr lang="en-US" dirty="0" smtClean="0">
                <a:latin typeface="Times New Roman" pitchFamily="18" charset="0"/>
                <a:cs typeface="Times New Roman" pitchFamily="18" charset="0"/>
              </a:rPr>
              <a:t>For p-persistent method, depends on the value of p</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Carrier sense multiple access with collision avoidance (CSMA/CA)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CSMA/CA is used for wireless networks.</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CSMA/CA avoids collisions by using the three strategies: </a:t>
            </a:r>
          </a:p>
          <a:p>
            <a:endParaRPr lang="en-US" dirty="0" smtClean="0">
              <a:latin typeface="Times New Roman" pitchFamily="18" charset="0"/>
              <a:cs typeface="Times New Roman" pitchFamily="18" charset="0"/>
            </a:endParaRPr>
          </a:p>
          <a:p>
            <a:pPr lvl="1"/>
            <a:r>
              <a:rPr lang="en-US" dirty="0" err="1" smtClean="0">
                <a:latin typeface="Times New Roman" pitchFamily="18" charset="0"/>
                <a:cs typeface="Times New Roman" pitchFamily="18" charset="0"/>
              </a:rPr>
              <a:t>InterFrame</a:t>
            </a:r>
            <a:r>
              <a:rPr lang="en-US" dirty="0" smtClean="0">
                <a:latin typeface="Times New Roman" pitchFamily="18" charset="0"/>
                <a:cs typeface="Times New Roman" pitchFamily="18" charset="0"/>
              </a:rPr>
              <a:t> Space</a:t>
            </a:r>
          </a:p>
          <a:p>
            <a:pPr lvl="1"/>
            <a:r>
              <a:rPr lang="en-US" dirty="0" smtClean="0">
                <a:latin typeface="Times New Roman" pitchFamily="18" charset="0"/>
                <a:cs typeface="Times New Roman" pitchFamily="18" charset="0"/>
              </a:rPr>
              <a:t>Contention window</a:t>
            </a:r>
          </a:p>
          <a:p>
            <a:pPr lvl="1"/>
            <a:r>
              <a:rPr lang="en-US" dirty="0" smtClean="0">
                <a:latin typeface="Times New Roman" pitchFamily="18" charset="0"/>
                <a:cs typeface="Times New Roman" pitchFamily="18" charset="0"/>
              </a:rPr>
              <a:t>Acknowledgment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405412" y="0"/>
            <a:ext cx="6333175" cy="6858000"/>
          </a:xfrm>
          <a:prstGeom prst="rect">
            <a:avLst/>
          </a:prstGeom>
        </p:spPr>
      </p:pic>
    </p:spTree>
    <p:extLst>
      <p:ext uri="{BB962C8B-B14F-4D97-AF65-F5344CB8AC3E}">
        <p14:creationId xmlns="" xmlns:p14="http://schemas.microsoft.com/office/powerpoint/2010/main" val="33816752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err="1" smtClean="0">
                <a:latin typeface="Times New Roman" pitchFamily="18" charset="0"/>
                <a:cs typeface="Times New Roman" pitchFamily="18" charset="0"/>
              </a:rPr>
              <a:t>Interframe</a:t>
            </a:r>
            <a:r>
              <a:rPr lang="en-US" dirty="0" smtClean="0">
                <a:latin typeface="Times New Roman" pitchFamily="18" charset="0"/>
                <a:cs typeface="Times New Roman" pitchFamily="18" charset="0"/>
              </a:rPr>
              <a:t> Space (IFS)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0" y="1143000"/>
            <a:ext cx="9144000" cy="5715000"/>
          </a:xfrm>
        </p:spPr>
        <p:txBody>
          <a:bodyPr>
            <a:normAutofit/>
          </a:bodyPr>
          <a:lstStyle/>
          <a:p>
            <a:r>
              <a:rPr lang="en-US" dirty="0" smtClean="0">
                <a:latin typeface="Times New Roman" pitchFamily="18" charset="0"/>
                <a:cs typeface="Times New Roman" pitchFamily="18" charset="0"/>
              </a:rPr>
              <a:t>The station does not send immediately, even if an idle channel is found.</a:t>
            </a:r>
          </a:p>
          <a:p>
            <a:r>
              <a:rPr lang="en-US" dirty="0" smtClean="0">
                <a:latin typeface="Times New Roman" pitchFamily="18" charset="0"/>
                <a:cs typeface="Times New Roman" pitchFamily="18" charset="0"/>
              </a:rPr>
              <a:t>It waits for a period of time called the </a:t>
            </a:r>
            <a:r>
              <a:rPr lang="en-US" dirty="0" err="1" smtClean="0">
                <a:latin typeface="Times New Roman" pitchFamily="18" charset="0"/>
                <a:cs typeface="Times New Roman" pitchFamily="18" charset="0"/>
              </a:rPr>
              <a:t>I</a:t>
            </a:r>
            <a:r>
              <a:rPr lang="en-US" b="1" dirty="0" err="1" smtClean="0">
                <a:latin typeface="Times New Roman" pitchFamily="18" charset="0"/>
                <a:cs typeface="Times New Roman" pitchFamily="18" charset="0"/>
              </a:rPr>
              <a:t>nterFrame</a:t>
            </a:r>
            <a:r>
              <a:rPr lang="en-US" b="1" dirty="0" smtClean="0">
                <a:latin typeface="Times New Roman" pitchFamily="18" charset="0"/>
                <a:cs typeface="Times New Roman" pitchFamily="18" charset="0"/>
              </a:rPr>
              <a:t> space(IFS).</a:t>
            </a:r>
          </a:p>
          <a:p>
            <a:r>
              <a:rPr lang="en-US" dirty="0" smtClean="0">
                <a:latin typeface="Times New Roman" pitchFamily="18" charset="0"/>
                <a:cs typeface="Times New Roman" pitchFamily="18" charset="0"/>
              </a:rPr>
              <a:t>After waiting an IFS time, if the channel is still idle, the station can send, but it still needs to wait a time equal to the contention window (time divided into slots).</a:t>
            </a:r>
          </a:p>
          <a:p>
            <a:r>
              <a:rPr lang="en-US" dirty="0" smtClean="0">
                <a:latin typeface="Times New Roman" pitchFamily="18" charset="0"/>
                <a:cs typeface="Times New Roman" pitchFamily="18" charset="0"/>
              </a:rPr>
              <a:t>The IFS variable can also be used to prioritize stations or frame types.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b="1" dirty="0" smtClean="0">
                <a:latin typeface="Times New Roman" pitchFamily="18" charset="0"/>
                <a:cs typeface="Times New Roman" pitchFamily="18" charset="0"/>
              </a:rPr>
              <a:t>Contention Window</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0" y="685800"/>
            <a:ext cx="9144000" cy="6172200"/>
          </a:xfrm>
        </p:spPr>
        <p:txBody>
          <a:bodyPr>
            <a:normAutofit/>
          </a:bodyPr>
          <a:lstStyle/>
          <a:p>
            <a:r>
              <a:rPr lang="en-US" sz="2400" dirty="0" smtClean="0">
                <a:latin typeface="Times New Roman" pitchFamily="18" charset="0"/>
                <a:cs typeface="Times New Roman" pitchFamily="18" charset="0"/>
              </a:rPr>
              <a:t>It is an amount of time divided into slots. </a:t>
            </a:r>
          </a:p>
          <a:p>
            <a:r>
              <a:rPr lang="en-US" sz="2400" dirty="0" smtClean="0">
                <a:latin typeface="Times New Roman" pitchFamily="18" charset="0"/>
                <a:cs typeface="Times New Roman" pitchFamily="18" charset="0"/>
              </a:rPr>
              <a:t>A station that is ready to send chooses a random number of slots as its wait time. </a:t>
            </a:r>
          </a:p>
          <a:p>
            <a:r>
              <a:rPr lang="en-US" sz="2400" dirty="0" smtClean="0">
                <a:latin typeface="Times New Roman" pitchFamily="18" charset="0"/>
                <a:cs typeface="Times New Roman" pitchFamily="18" charset="0"/>
              </a:rPr>
              <a:t>The number of slots in the window changes according to the binary exponential </a:t>
            </a:r>
            <a:r>
              <a:rPr lang="en-US" sz="2400" dirty="0" err="1" smtClean="0">
                <a:latin typeface="Times New Roman" pitchFamily="18" charset="0"/>
                <a:cs typeface="Times New Roman" pitchFamily="18" charset="0"/>
              </a:rPr>
              <a:t>backoff</a:t>
            </a:r>
            <a:r>
              <a:rPr lang="en-US" sz="2400" dirty="0" smtClean="0">
                <a:latin typeface="Times New Roman" pitchFamily="18" charset="0"/>
                <a:cs typeface="Times New Roman" pitchFamily="18" charset="0"/>
              </a:rPr>
              <a:t> strategy</a:t>
            </a:r>
            <a:r>
              <a:rPr lang="en-US" sz="2800" dirty="0" smtClean="0">
                <a:latin typeface="Times New Roman" pitchFamily="18" charset="0"/>
                <a:cs typeface="Times New Roman" pitchFamily="18" charset="0"/>
              </a:rPr>
              <a:t>{0,1}.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station needs to sense the channel after each time slot.</a:t>
            </a:r>
          </a:p>
          <a:p>
            <a:r>
              <a:rPr lang="en-US" sz="2400" dirty="0" smtClean="0">
                <a:latin typeface="Times New Roman" pitchFamily="18" charset="0"/>
                <a:cs typeface="Times New Roman" pitchFamily="18" charset="0"/>
              </a:rPr>
              <a:t>If it finds the channel busy, it does not restart the process, it stops the timer and restarts it when the channel is sensed as idle.</a:t>
            </a:r>
          </a:p>
          <a:p>
            <a:r>
              <a:rPr lang="en-US" sz="2400" dirty="0" smtClean="0">
                <a:latin typeface="Times New Roman" pitchFamily="18" charset="0"/>
                <a:cs typeface="Times New Roman" pitchFamily="18" charset="0"/>
              </a:rPr>
              <a:t>Priority is given to the station with the longest waiting time.</a:t>
            </a: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762000" y="4467509"/>
            <a:ext cx="8077200" cy="24098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81000" y="228600"/>
            <a:ext cx="8229600" cy="5562600"/>
          </a:xfrm>
        </p:spPr>
        <p:txBody>
          <a:bodyPr/>
          <a:lstStyle/>
          <a:p>
            <a:pPr marL="0" indent="0" algn="ctr">
              <a:buNone/>
            </a:pPr>
            <a:r>
              <a:rPr lang="en-US" b="1" dirty="0" smtClean="0">
                <a:latin typeface="Times New Roman" pitchFamily="18" charset="0"/>
                <a:cs typeface="Times New Roman" pitchFamily="18" charset="0"/>
              </a:rPr>
              <a:t>Acknowledgment</a:t>
            </a:r>
            <a:r>
              <a:rPr lang="en-US" dirty="0" smtClean="0">
                <a:latin typeface="Times New Roman" pitchFamily="18" charset="0"/>
                <a:cs typeface="Times New Roman" pitchFamily="18" charset="0"/>
              </a:rPr>
              <a:t> </a:t>
            </a:r>
          </a:p>
          <a:p>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With </a:t>
            </a:r>
            <a:r>
              <a:rPr lang="en-IN" dirty="0">
                <a:latin typeface="Times New Roman" panose="02020603050405020304" pitchFamily="18" charset="0"/>
                <a:cs typeface="Times New Roman" panose="02020603050405020304" pitchFamily="18" charset="0"/>
              </a:rPr>
              <a:t>all these </a:t>
            </a:r>
            <a:r>
              <a:rPr lang="en-IN" dirty="0" smtClean="0">
                <a:latin typeface="Times New Roman" panose="02020603050405020304" pitchFamily="18" charset="0"/>
                <a:cs typeface="Times New Roman" panose="02020603050405020304" pitchFamily="18" charset="0"/>
              </a:rPr>
              <a:t>precautions, t</a:t>
            </a:r>
            <a:r>
              <a:rPr lang="en-US" dirty="0" smtClean="0">
                <a:latin typeface="Times New Roman" pitchFamily="18" charset="0"/>
                <a:cs typeface="Times New Roman" pitchFamily="18" charset="0"/>
              </a:rPr>
              <a:t>here still may be a collision resulting in destroyed data. The data may be corrupted during the transmission.</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positive acknowledgment and the time-out timer can help guarantee that the receiver has received the frame.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23"/>
            <a:ext cx="8229600" cy="639762"/>
          </a:xfrm>
        </p:spPr>
        <p:txBody>
          <a:bodyPr>
            <a:normAutofit fontScale="90000"/>
          </a:bodyPr>
          <a:lstStyle/>
          <a:p>
            <a:r>
              <a:rPr lang="en-US" b="1" dirty="0" smtClean="0">
                <a:latin typeface="Times New Roman" pitchFamily="18" charset="0"/>
                <a:cs typeface="Times New Roman" pitchFamily="18" charset="0"/>
              </a:rPr>
              <a:t>Frame Exchange Time Line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458200" cy="5638800"/>
          </a:xfrm>
        </p:spPr>
        <p:txBody>
          <a:bodyPr/>
          <a:lstStyle/>
          <a:p>
            <a:r>
              <a:rPr lang="en-US" dirty="0" smtClean="0">
                <a:latin typeface="Times New Roman" panose="02020603050405020304" pitchFamily="18" charset="0"/>
                <a:cs typeface="Times New Roman" panose="02020603050405020304" pitchFamily="18" charset="0"/>
              </a:rPr>
              <a:t>The exchange of data and control frames in time is as follows.</a:t>
            </a:r>
            <a:endParaRPr lang="en-US" dirty="0">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1028700" y="1981200"/>
            <a:ext cx="7086600" cy="472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991600" cy="6248400"/>
          </a:xfrm>
        </p:spPr>
        <p:txBody>
          <a:bodyPr>
            <a:noAutofit/>
          </a:bodyPr>
          <a:lstStyle/>
          <a:p>
            <a:r>
              <a:rPr lang="en-US" sz="2800" dirty="0" smtClean="0">
                <a:latin typeface="Times New Roman" pitchFamily="18" charset="0"/>
                <a:cs typeface="Times New Roman" pitchFamily="18" charset="0"/>
              </a:rPr>
              <a:t>Before sending a frame, the source station senses the medium by checking the energy level at the carrier frequency.</a:t>
            </a:r>
          </a:p>
          <a:p>
            <a:pPr>
              <a:buNone/>
            </a:pPr>
            <a:r>
              <a:rPr lang="en-US" sz="2800" dirty="0" smtClean="0">
                <a:latin typeface="Times New Roman" pitchFamily="18" charset="0"/>
                <a:cs typeface="Times New Roman" pitchFamily="18" charset="0"/>
              </a:rPr>
              <a:t>	a. The channel uses a persistence strategy with </a:t>
            </a:r>
            <a:r>
              <a:rPr lang="en-US" sz="2800" dirty="0" err="1" smtClean="0">
                <a:latin typeface="Times New Roman" pitchFamily="18" charset="0"/>
                <a:cs typeface="Times New Roman" pitchFamily="18" charset="0"/>
              </a:rPr>
              <a:t>backoff</a:t>
            </a:r>
            <a:r>
              <a:rPr lang="en-US" sz="2800" dirty="0" smtClean="0">
                <a:latin typeface="Times New Roman" pitchFamily="18" charset="0"/>
                <a:cs typeface="Times New Roman" pitchFamily="18" charset="0"/>
              </a:rPr>
              <a:t>           until the channel is idle.</a:t>
            </a:r>
          </a:p>
          <a:p>
            <a:pPr>
              <a:buNone/>
            </a:pPr>
            <a:r>
              <a:rPr lang="en-US" sz="2800" dirty="0" smtClean="0">
                <a:latin typeface="Times New Roman" pitchFamily="18" charset="0"/>
                <a:cs typeface="Times New Roman" pitchFamily="18" charset="0"/>
              </a:rPr>
              <a:t>	b. After the station is found to be idle, the station waits for a period of time called the DCF </a:t>
            </a:r>
            <a:r>
              <a:rPr lang="en-US" sz="2800" dirty="0" err="1" smtClean="0">
                <a:latin typeface="Times New Roman" pitchFamily="18" charset="0"/>
                <a:cs typeface="Times New Roman" pitchFamily="18" charset="0"/>
              </a:rPr>
              <a:t>InterFrame</a:t>
            </a:r>
            <a:r>
              <a:rPr lang="en-US" sz="2800" dirty="0" smtClean="0">
                <a:latin typeface="Times New Roman" pitchFamily="18" charset="0"/>
                <a:cs typeface="Times New Roman" pitchFamily="18" charset="0"/>
              </a:rPr>
              <a:t> Space (DIFS) then the station sends a control frame called the Request To Send (RTS).</a:t>
            </a:r>
          </a:p>
          <a:p>
            <a:r>
              <a:rPr lang="en-US" sz="2800" dirty="0" smtClean="0">
                <a:latin typeface="Times New Roman" pitchFamily="18" charset="0"/>
                <a:cs typeface="Times New Roman" pitchFamily="18" charset="0"/>
              </a:rPr>
              <a:t> After receiving the RTS and waiting a period of time called the Short </a:t>
            </a:r>
            <a:r>
              <a:rPr lang="en-US" sz="2800" dirty="0" err="1" smtClean="0">
                <a:latin typeface="Times New Roman" pitchFamily="18" charset="0"/>
                <a:cs typeface="Times New Roman" pitchFamily="18" charset="0"/>
              </a:rPr>
              <a:t>InterFrame</a:t>
            </a:r>
            <a:r>
              <a:rPr lang="en-US" sz="2800" dirty="0" smtClean="0">
                <a:latin typeface="Times New Roman" pitchFamily="18" charset="0"/>
                <a:cs typeface="Times New Roman" pitchFamily="18" charset="0"/>
              </a:rPr>
              <a:t> Space (SIFS), the destination station sends a control frame, called the Clear To Send (CTS) to the source station. This indicates that the destination station is ready to receive data.</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09600"/>
            <a:ext cx="8991600" cy="5638800"/>
          </a:xfrm>
        </p:spPr>
        <p:txBody>
          <a:bodyPr>
            <a:normAutofit/>
          </a:bodyPr>
          <a:lstStyle/>
          <a:p>
            <a:r>
              <a:rPr lang="en-US" dirty="0" smtClean="0">
                <a:latin typeface="Times New Roman" pitchFamily="18" charset="0"/>
                <a:cs typeface="Times New Roman" pitchFamily="18" charset="0"/>
              </a:rPr>
              <a:t>The source station sends data after waiting an amount of time equal to SIFS.</a:t>
            </a:r>
          </a:p>
          <a:p>
            <a:r>
              <a:rPr lang="en-US" dirty="0" smtClean="0">
                <a:latin typeface="Times New Roman" pitchFamily="18" charset="0"/>
                <a:cs typeface="Times New Roman" pitchFamily="18" charset="0"/>
              </a:rPr>
              <a:t>The destination station after waiting an amount of time equal to SIFS, sends an acknowledgment to show that the frame has been received.</a:t>
            </a:r>
          </a:p>
          <a:p>
            <a:r>
              <a:rPr lang="en-US" dirty="0" smtClean="0">
                <a:latin typeface="Times New Roman" pitchFamily="18" charset="0"/>
                <a:cs typeface="Times New Roman" pitchFamily="18" charset="0"/>
              </a:rPr>
              <a:t>Acknowledgment is needed in this protocol because the station does not have any means to check for the successful arrival of its data at the destination.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152400"/>
            <a:ext cx="8229600" cy="639762"/>
          </a:xfrm>
        </p:spPr>
        <p:txBody>
          <a:bodyPr>
            <a:normAutofit fontScale="90000"/>
          </a:bodyPr>
          <a:lstStyle/>
          <a:p>
            <a:r>
              <a:rPr lang="en-US" dirty="0" smtClean="0">
                <a:latin typeface="Times New Roman" pitchFamily="18" charset="0"/>
                <a:cs typeface="Times New Roman" pitchFamily="18" charset="0"/>
              </a:rPr>
              <a:t>Network </a:t>
            </a:r>
            <a:r>
              <a:rPr lang="en-US" dirty="0" err="1" smtClean="0">
                <a:latin typeface="Times New Roman" pitchFamily="18" charset="0"/>
                <a:cs typeface="Times New Roman" pitchFamily="18" charset="0"/>
              </a:rPr>
              <a:t>AllocationVector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76200" y="1219200"/>
            <a:ext cx="9067800" cy="5257800"/>
          </a:xfrm>
        </p:spPr>
        <p:txBody>
          <a:bodyPr>
            <a:normAutofit/>
          </a:bodyPr>
          <a:lstStyle/>
          <a:p>
            <a:r>
              <a:rPr lang="en-US" dirty="0" smtClean="0">
                <a:latin typeface="Times New Roman" pitchFamily="18" charset="0"/>
                <a:cs typeface="Times New Roman" pitchFamily="18" charset="0"/>
              </a:rPr>
              <a:t>When a station sends an RTS frame, it includes the duration of time that it needs to occupy the channel. The stations that are affected by this transmission create a timer called a Network Allocation Vector (NAV)</a:t>
            </a:r>
          </a:p>
          <a:p>
            <a:r>
              <a:rPr lang="en-US" dirty="0" smtClean="0">
                <a:latin typeface="Times New Roman" pitchFamily="18" charset="0"/>
                <a:cs typeface="Times New Roman" pitchFamily="18" charset="0"/>
              </a:rPr>
              <a:t>It is how much time must pass before these stations are allowed to check the channel for idleness. Each time a station accesses the system and sends an RTS frame, other stations start their NAV.</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CONTROLLED ACCESS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0" y="1295400"/>
            <a:ext cx="9144000" cy="5562600"/>
          </a:xfrm>
        </p:spPr>
        <p:txBody>
          <a:bodyPr>
            <a:normAutofit/>
          </a:bodyPr>
          <a:lstStyle/>
          <a:p>
            <a:r>
              <a:rPr lang="en-US" dirty="0" smtClean="0">
                <a:latin typeface="Times New Roman" pitchFamily="18" charset="0"/>
                <a:cs typeface="Times New Roman" pitchFamily="18" charset="0"/>
              </a:rPr>
              <a:t>The stations consult one another to find which station has the right to send. </a:t>
            </a:r>
          </a:p>
          <a:p>
            <a:r>
              <a:rPr lang="en-US" dirty="0" smtClean="0">
                <a:latin typeface="Times New Roman" pitchFamily="18" charset="0"/>
                <a:cs typeface="Times New Roman" pitchFamily="18" charset="0"/>
              </a:rPr>
              <a:t>A station cannot send until it is authorized by the other stations.</a:t>
            </a:r>
          </a:p>
          <a:p>
            <a:r>
              <a:rPr lang="en-US" dirty="0" smtClean="0">
                <a:latin typeface="Times New Roman" pitchFamily="18" charset="0"/>
                <a:cs typeface="Times New Roman" pitchFamily="18" charset="0"/>
              </a:rPr>
              <a:t>The three controlled-access methods are:</a:t>
            </a:r>
          </a:p>
          <a:p>
            <a:endParaRPr lang="en-US" dirty="0" smtClean="0">
              <a:latin typeface="Times New Roman" pitchFamily="18" charset="0"/>
              <a:cs typeface="Times New Roman" pitchFamily="18" charset="0"/>
            </a:endParaRPr>
          </a:p>
          <a:p>
            <a:pPr lvl="1">
              <a:buFont typeface="Courier New" panose="02070309020205020404" pitchFamily="49" charset="0"/>
              <a:buChar char="o"/>
            </a:pPr>
            <a:r>
              <a:rPr lang="en-US" b="1" dirty="0" smtClean="0">
                <a:latin typeface="Times New Roman" pitchFamily="18" charset="0"/>
                <a:cs typeface="Times New Roman" pitchFamily="18" charset="0"/>
              </a:rPr>
              <a:t>Reservation</a:t>
            </a:r>
          </a:p>
          <a:p>
            <a:pPr lvl="1">
              <a:buFont typeface="Courier New" panose="02070309020205020404" pitchFamily="49" charset="0"/>
              <a:buChar char="o"/>
            </a:pPr>
            <a:r>
              <a:rPr lang="en-US" b="1" dirty="0" smtClean="0">
                <a:latin typeface="Times New Roman" pitchFamily="18" charset="0"/>
                <a:cs typeface="Times New Roman" pitchFamily="18" charset="0"/>
              </a:rPr>
              <a:t>Polling</a:t>
            </a:r>
          </a:p>
          <a:p>
            <a:pPr lvl="1">
              <a:buFont typeface="Courier New" panose="02070309020205020404" pitchFamily="49" charset="0"/>
              <a:buChar char="o"/>
            </a:pPr>
            <a:r>
              <a:rPr lang="en-US" b="1" dirty="0" smtClean="0">
                <a:latin typeface="Times New Roman" pitchFamily="18" charset="0"/>
                <a:cs typeface="Times New Roman" pitchFamily="18" charset="0"/>
              </a:rPr>
              <a:t>Token Passing</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latin typeface="Times New Roman" pitchFamily="18" charset="0"/>
                <a:cs typeface="Times New Roman" pitchFamily="18" charset="0"/>
              </a:rPr>
              <a:t>Reservation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534400" cy="5791200"/>
          </a:xfrm>
        </p:spPr>
        <p:txBody>
          <a:bodyPr>
            <a:normAutofit lnSpcReduction="10000"/>
          </a:bodyPr>
          <a:lstStyle/>
          <a:p>
            <a:r>
              <a:rPr lang="en-US" dirty="0" smtClean="0">
                <a:latin typeface="Times New Roman" pitchFamily="18" charset="0"/>
                <a:cs typeface="Times New Roman" pitchFamily="18" charset="0"/>
              </a:rPr>
              <a:t>A station needs to make a reservation before sending data.</a:t>
            </a:r>
          </a:p>
          <a:p>
            <a:r>
              <a:rPr lang="en-US" dirty="0" smtClean="0">
                <a:latin typeface="Times New Roman" pitchFamily="18" charset="0"/>
                <a:cs typeface="Times New Roman" pitchFamily="18" charset="0"/>
              </a:rPr>
              <a:t>Here time is divided into intervals.</a:t>
            </a:r>
          </a:p>
          <a:p>
            <a:r>
              <a:rPr lang="en-US" dirty="0" smtClean="0">
                <a:latin typeface="Times New Roman" pitchFamily="18" charset="0"/>
                <a:cs typeface="Times New Roman" pitchFamily="18" charset="0"/>
              </a:rPr>
              <a:t>In each interval, a reservation frame precedes the data frames sent in that interval.</a:t>
            </a:r>
          </a:p>
          <a:p>
            <a:r>
              <a:rPr lang="en-US" dirty="0" smtClean="0">
                <a:latin typeface="Times New Roman" pitchFamily="18" charset="0"/>
                <a:cs typeface="Times New Roman" pitchFamily="18" charset="0"/>
              </a:rPr>
              <a:t>If there are N stations in the system, there are N reservation mini slots in the reservation frame.</a:t>
            </a:r>
          </a:p>
          <a:p>
            <a:r>
              <a:rPr lang="en-US" dirty="0" smtClean="0">
                <a:latin typeface="Times New Roman" pitchFamily="18" charset="0"/>
                <a:cs typeface="Times New Roman" pitchFamily="18" charset="0"/>
              </a:rPr>
              <a:t>When a station needs to send a data frame, it makes a reservation in its own mini slot.</a:t>
            </a:r>
          </a:p>
          <a:p>
            <a:r>
              <a:rPr lang="en-US" dirty="0" smtClean="0">
                <a:latin typeface="Times New Roman" pitchFamily="18" charset="0"/>
                <a:cs typeface="Times New Roman" pitchFamily="18" charset="0"/>
              </a:rPr>
              <a:t>It sends their data frames after the reservation frame.</a:t>
            </a:r>
          </a:p>
          <a:p>
            <a:endParaRPr lang="en-US" dirty="0" smtClean="0"/>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smtClean="0">
                <a:latin typeface="Times New Roman" pitchFamily="18" charset="0"/>
                <a:cs typeface="Times New Roman" pitchFamily="18" charset="0"/>
              </a:rPr>
              <a:t>Example</a:t>
            </a:r>
            <a:endParaRPr lang="en-US" dirty="0">
              <a:latin typeface="Times New Roman" pitchFamily="18" charset="0"/>
              <a:cs typeface="Times New Roman" pitchFamily="18" charset="0"/>
            </a:endParaRPr>
          </a:p>
        </p:txBody>
      </p:sp>
      <p:sp>
        <p:nvSpPr>
          <p:cNvPr id="5" name="Content Placeholder 4"/>
          <p:cNvSpPr>
            <a:spLocks noGrp="1"/>
          </p:cNvSpPr>
          <p:nvPr>
            <p:ph idx="1"/>
          </p:nvPr>
        </p:nvSpPr>
        <p:spPr>
          <a:xfrm>
            <a:off x="-47768" y="609600"/>
            <a:ext cx="9191767" cy="5791200"/>
          </a:xfrm>
        </p:spPr>
        <p:txBody>
          <a:bodyPr/>
          <a:lstStyle/>
          <a:p>
            <a:r>
              <a:rPr lang="en-US" dirty="0" smtClean="0">
                <a:latin typeface="Times New Roman" panose="02020603050405020304" pitchFamily="18" charset="0"/>
                <a:cs typeface="Times New Roman" panose="02020603050405020304" pitchFamily="18" charset="0"/>
              </a:rPr>
              <a:t>There are five stations and a five-mini slot reservation frame. </a:t>
            </a:r>
          </a:p>
          <a:p>
            <a:r>
              <a:rPr lang="en-US" dirty="0" smtClean="0">
                <a:latin typeface="Times New Roman" panose="02020603050405020304" pitchFamily="18" charset="0"/>
                <a:cs typeface="Times New Roman" panose="02020603050405020304" pitchFamily="18" charset="0"/>
              </a:rPr>
              <a:t>In the first interval, only stations 1, 3, and 4 have made reservations. </a:t>
            </a:r>
          </a:p>
          <a:p>
            <a:r>
              <a:rPr lang="en-US" dirty="0" smtClean="0">
                <a:latin typeface="Times New Roman" panose="02020603050405020304" pitchFamily="18" charset="0"/>
                <a:cs typeface="Times New Roman" panose="02020603050405020304" pitchFamily="18" charset="0"/>
              </a:rPr>
              <a:t>In the second interval, only station 1 has made a reservation.</a:t>
            </a:r>
          </a:p>
          <a:p>
            <a:endParaRPr lang="en-US"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a:blip r:embed="rId2" cstate="print"/>
          <a:srcRect/>
          <a:stretch>
            <a:fillRect/>
          </a:stretch>
        </p:blipFill>
        <p:spPr bwMode="auto">
          <a:xfrm>
            <a:off x="457200" y="3886200"/>
            <a:ext cx="8381999"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dirty="0" smtClean="0">
                <a:latin typeface="Times New Roman" pitchFamily="18" charset="0"/>
                <a:cs typeface="Times New Roman" pitchFamily="18" charset="0"/>
              </a:rPr>
              <a:t>Polling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943600"/>
          </a:xfrm>
        </p:spPr>
        <p:txBody>
          <a:bodyPr>
            <a:normAutofit/>
          </a:bodyPr>
          <a:lstStyle/>
          <a:p>
            <a:r>
              <a:rPr lang="en-US" dirty="0" smtClean="0">
                <a:latin typeface="Times New Roman" pitchFamily="18" charset="0"/>
                <a:cs typeface="Times New Roman" pitchFamily="18" charset="0"/>
              </a:rPr>
              <a:t>Polling works with topologies in which one device is a </a:t>
            </a:r>
            <a:r>
              <a:rPr lang="en-US" i="1" dirty="0" smtClean="0">
                <a:latin typeface="Times New Roman" pitchFamily="18" charset="0"/>
                <a:cs typeface="Times New Roman" pitchFamily="18" charset="0"/>
              </a:rPr>
              <a:t>primary station and </a:t>
            </a:r>
            <a:r>
              <a:rPr lang="en-US" dirty="0" smtClean="0">
                <a:latin typeface="Times New Roman" pitchFamily="18" charset="0"/>
                <a:cs typeface="Times New Roman" pitchFamily="18" charset="0"/>
              </a:rPr>
              <a:t>other devices as </a:t>
            </a:r>
            <a:r>
              <a:rPr lang="en-US" i="1" dirty="0" smtClean="0">
                <a:latin typeface="Times New Roman" pitchFamily="18" charset="0"/>
                <a:cs typeface="Times New Roman" pitchFamily="18" charset="0"/>
              </a:rPr>
              <a:t>secondary stations.</a:t>
            </a:r>
          </a:p>
          <a:p>
            <a:r>
              <a:rPr lang="en-US" dirty="0" smtClean="0">
                <a:latin typeface="Times New Roman" pitchFamily="18" charset="0"/>
                <a:cs typeface="Times New Roman" pitchFamily="18" charset="0"/>
              </a:rPr>
              <a:t>The primary device controls the link and the secondary devices follow its instructions.</a:t>
            </a:r>
          </a:p>
          <a:p>
            <a:r>
              <a:rPr lang="en-US" dirty="0" smtClean="0">
                <a:latin typeface="Times New Roman" pitchFamily="18" charset="0"/>
                <a:cs typeface="Times New Roman" pitchFamily="18" charset="0"/>
              </a:rPr>
              <a:t>Therefore, the primary device is always the initiator of a session.</a:t>
            </a:r>
          </a:p>
          <a:p>
            <a:r>
              <a:rPr lang="en-US" dirty="0" smtClean="0">
                <a:latin typeface="Times New Roman" pitchFamily="18" charset="0"/>
                <a:cs typeface="Times New Roman" pitchFamily="18" charset="0"/>
              </a:rPr>
              <a:t>This method uses poll and select functions to prevent collisions.</a:t>
            </a:r>
          </a:p>
          <a:p>
            <a:r>
              <a:rPr lang="en-US" dirty="0" smtClean="0">
                <a:latin typeface="Times New Roman" pitchFamily="18" charset="0"/>
                <a:cs typeface="Times New Roman" pitchFamily="18" charset="0"/>
              </a:rPr>
              <a:t>The drawback is if the primary station fails, the system goes down.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latin typeface="Times New Roman" pitchFamily="18" charset="0"/>
                <a:cs typeface="Times New Roman" pitchFamily="18" charset="0"/>
              </a:rPr>
              <a:t>Select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685800"/>
            <a:ext cx="8229600" cy="6172200"/>
          </a:xfrm>
        </p:spPr>
        <p:txBody>
          <a:bodyPr>
            <a:normAutofit fontScale="92500" lnSpcReduction="20000"/>
          </a:bodyPr>
          <a:lstStyle/>
          <a:p>
            <a:r>
              <a:rPr lang="en-US" dirty="0" smtClean="0">
                <a:latin typeface="Times New Roman" pitchFamily="18" charset="0"/>
                <a:cs typeface="Times New Roman" pitchFamily="18" charset="0"/>
              </a:rPr>
              <a:t>The primary device has something to send then select is used.</a:t>
            </a:r>
          </a:p>
          <a:p>
            <a:r>
              <a:rPr lang="en-US" dirty="0" smtClean="0">
                <a:latin typeface="Times New Roman" pitchFamily="18" charset="0"/>
                <a:cs typeface="Times New Roman" pitchFamily="18" charset="0"/>
              </a:rPr>
              <a:t>If the primary is neither sending nor receiving data, it knows the link is available.</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Before sending data, the primary creates and transmits a select(SEL) frame.</a:t>
            </a:r>
          </a:p>
          <a:p>
            <a:r>
              <a:rPr lang="en-US" dirty="0" smtClean="0">
                <a:latin typeface="Times New Roman" pitchFamily="18" charset="0"/>
                <a:cs typeface="Times New Roman" pitchFamily="18" charset="0"/>
              </a:rPr>
              <a:t>It includes the address of that secondary and wait</a:t>
            </a:r>
          </a:p>
          <a:p>
            <a:pPr>
              <a:buNone/>
            </a:pPr>
            <a:r>
              <a:rPr lang="en-US" dirty="0" smtClean="0">
                <a:latin typeface="Times New Roman" pitchFamily="18" charset="0"/>
                <a:cs typeface="Times New Roman" pitchFamily="18" charset="0"/>
              </a:rPr>
              <a:t>	for an acknowledgment.</a:t>
            </a:r>
            <a:endParaRPr lang="en-US"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2514600" y="2514600"/>
            <a:ext cx="3429000" cy="2419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latin typeface="Times New Roman" pitchFamily="18" charset="0"/>
                <a:cs typeface="Times New Roman" pitchFamily="18" charset="0"/>
              </a:rPr>
              <a:t>Poll</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458200" cy="6096000"/>
          </a:xfrm>
        </p:spPr>
        <p:txBody>
          <a:bodyPr>
            <a:normAutofit fontScale="92500"/>
          </a:bodyPr>
          <a:lstStyle/>
          <a:p>
            <a:r>
              <a:rPr lang="en-US" dirty="0" smtClean="0">
                <a:latin typeface="Times New Roman" pitchFamily="18" charset="0"/>
                <a:cs typeface="Times New Roman" pitchFamily="18" charset="0"/>
              </a:rPr>
              <a:t>It is used by the primary device to request transmissions from the secondary devices.</a:t>
            </a:r>
          </a:p>
          <a:p>
            <a:r>
              <a:rPr lang="en-US" dirty="0" smtClean="0">
                <a:latin typeface="Times New Roman" pitchFamily="18" charset="0"/>
                <a:cs typeface="Times New Roman" pitchFamily="18" charset="0"/>
              </a:rPr>
              <a:t>When the primary is ready to receive data, it must poll each device if it wants to send or receive.</a:t>
            </a:r>
          </a:p>
          <a:p>
            <a:r>
              <a:rPr lang="en-US" dirty="0" smtClean="0">
                <a:latin typeface="Times New Roman" pitchFamily="18" charset="0"/>
                <a:cs typeface="Times New Roman" pitchFamily="18" charset="0"/>
              </a:rPr>
              <a:t>The first secondary is nearer, it responds either with a NAK frame if it has nothing to send or with data.</a:t>
            </a:r>
          </a:p>
          <a:p>
            <a:r>
              <a:rPr lang="en-US" dirty="0" smtClean="0">
                <a:latin typeface="Times New Roman" pitchFamily="18" charset="0"/>
                <a:cs typeface="Times New Roman" pitchFamily="18" charset="0"/>
              </a:rPr>
              <a:t>If the response is a NAK frame, then the primary</a:t>
            </a:r>
          </a:p>
          <a:p>
            <a:pPr>
              <a:buNone/>
            </a:pPr>
            <a:r>
              <a:rPr lang="en-US" dirty="0" smtClean="0">
                <a:latin typeface="Times New Roman" pitchFamily="18" charset="0"/>
                <a:cs typeface="Times New Roman" pitchFamily="18" charset="0"/>
              </a:rPr>
              <a:t>	polls the next secondary until it finds one with data to send.</a:t>
            </a:r>
          </a:p>
          <a:p>
            <a:r>
              <a:rPr lang="en-US" dirty="0" smtClean="0">
                <a:latin typeface="Times New Roman" pitchFamily="18" charset="0"/>
                <a:cs typeface="Times New Roman" pitchFamily="18" charset="0"/>
              </a:rPr>
              <a:t>When the response is positive the primary reads the frame and returns an acknowledgment (ACK frame)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1600200" y="381000"/>
            <a:ext cx="6324600" cy="6172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latin typeface="Times New Roman" pitchFamily="18" charset="0"/>
                <a:cs typeface="Times New Roman" pitchFamily="18" charset="0"/>
              </a:rPr>
              <a:t>Token Passing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0" y="685800"/>
            <a:ext cx="9144000" cy="5943600"/>
          </a:xfrm>
        </p:spPr>
        <p:txBody>
          <a:bodyPr>
            <a:normAutofit/>
          </a:bodyPr>
          <a:lstStyle/>
          <a:p>
            <a:r>
              <a:rPr lang="en-US" dirty="0" smtClean="0">
                <a:latin typeface="Times New Roman" pitchFamily="18" charset="0"/>
                <a:cs typeface="Times New Roman" pitchFamily="18" charset="0"/>
              </a:rPr>
              <a:t>The stations in a network are organized in a logical ring.</a:t>
            </a:r>
          </a:p>
          <a:p>
            <a:r>
              <a:rPr lang="en-US" dirty="0" smtClean="0">
                <a:latin typeface="Times New Roman" pitchFamily="18" charset="0"/>
                <a:cs typeface="Times New Roman" pitchFamily="18" charset="0"/>
              </a:rPr>
              <a:t>For each station, there is a predecessor and a successor</a:t>
            </a:r>
            <a:r>
              <a:rPr lang="en-US" i="1"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A special packet called a </a:t>
            </a:r>
            <a:r>
              <a:rPr lang="en-US" b="1" i="1" dirty="0" smtClean="0">
                <a:latin typeface="Times New Roman" pitchFamily="18" charset="0"/>
                <a:cs typeface="Times New Roman" pitchFamily="18" charset="0"/>
              </a:rPr>
              <a:t>token </a:t>
            </a:r>
            <a:r>
              <a:rPr lang="en-US" dirty="0" smtClean="0">
                <a:latin typeface="Times New Roman" pitchFamily="18" charset="0"/>
                <a:cs typeface="Times New Roman" pitchFamily="18" charset="0"/>
              </a:rPr>
              <a:t>circulates through the ring.</a:t>
            </a:r>
          </a:p>
          <a:p>
            <a:r>
              <a:rPr lang="en-US" dirty="0" smtClean="0">
                <a:latin typeface="Times New Roman" pitchFamily="18" charset="0"/>
                <a:cs typeface="Times New Roman" pitchFamily="18" charset="0"/>
              </a:rPr>
              <a:t>The token gives the station the right to access the channel and send its data.</a:t>
            </a:r>
          </a:p>
          <a:p>
            <a:r>
              <a:rPr lang="en-US" dirty="0" smtClean="0">
                <a:latin typeface="Times New Roman" pitchFamily="18" charset="0"/>
                <a:cs typeface="Times New Roman" pitchFamily="18" charset="0"/>
              </a:rPr>
              <a:t>When a station has data to send, it waits until it receives the token from its predecessor.</a:t>
            </a:r>
          </a:p>
          <a:p>
            <a:pPr>
              <a:buNone/>
            </a:pPr>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553200"/>
          </a:xfrm>
        </p:spPr>
        <p:txBody>
          <a:bodyPr>
            <a:normAutofit/>
          </a:bodyPr>
          <a:lstStyle/>
          <a:p>
            <a:r>
              <a:rPr lang="en-IN" dirty="0" smtClean="0">
                <a:latin typeface="Times New Roman" panose="02020603050405020304" pitchFamily="18" charset="0"/>
                <a:cs typeface="Times New Roman" panose="02020603050405020304" pitchFamily="18" charset="0"/>
              </a:rPr>
              <a:t>It then </a:t>
            </a:r>
            <a:r>
              <a:rPr lang="en-IN" dirty="0">
                <a:latin typeface="Times New Roman" panose="02020603050405020304" pitchFamily="18" charset="0"/>
                <a:cs typeface="Times New Roman" panose="02020603050405020304" pitchFamily="18" charset="0"/>
              </a:rPr>
              <a:t>holds the token and sends its data. When the station has no more data to send, </a:t>
            </a:r>
            <a:r>
              <a:rPr lang="en-IN" dirty="0" smtClean="0">
                <a:latin typeface="Times New Roman" panose="02020603050405020304" pitchFamily="18" charset="0"/>
                <a:cs typeface="Times New Roman" panose="02020603050405020304" pitchFamily="18" charset="0"/>
              </a:rPr>
              <a:t>it releases </a:t>
            </a:r>
            <a:r>
              <a:rPr lang="en-IN" dirty="0">
                <a:latin typeface="Times New Roman" panose="02020603050405020304" pitchFamily="18" charset="0"/>
                <a:cs typeface="Times New Roman" panose="02020603050405020304" pitchFamily="18" charset="0"/>
              </a:rPr>
              <a:t>the token, passing it to the next logical station in the ring. </a:t>
            </a:r>
            <a:endParaRPr lang="en-IN" dirty="0" smtClean="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The </a:t>
            </a:r>
            <a:r>
              <a:rPr lang="en-IN" dirty="0">
                <a:latin typeface="Times New Roman" panose="02020603050405020304" pitchFamily="18" charset="0"/>
                <a:cs typeface="Times New Roman" panose="02020603050405020304" pitchFamily="18" charset="0"/>
              </a:rPr>
              <a:t>station </a:t>
            </a:r>
            <a:r>
              <a:rPr lang="en-IN" dirty="0" smtClean="0">
                <a:latin typeface="Times New Roman" panose="02020603050405020304" pitchFamily="18" charset="0"/>
                <a:cs typeface="Times New Roman" panose="02020603050405020304" pitchFamily="18" charset="0"/>
              </a:rPr>
              <a:t>cannot send </a:t>
            </a:r>
            <a:r>
              <a:rPr lang="en-IN" dirty="0">
                <a:latin typeface="Times New Roman" panose="02020603050405020304" pitchFamily="18" charset="0"/>
                <a:cs typeface="Times New Roman" panose="02020603050405020304" pitchFamily="18" charset="0"/>
              </a:rPr>
              <a:t>data until it receives the token again in the next round.</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Token management is needed for this access method.</a:t>
            </a:r>
          </a:p>
          <a:p>
            <a:r>
              <a:rPr lang="en-US" dirty="0" smtClean="0">
                <a:latin typeface="Times New Roman" pitchFamily="18" charset="0"/>
                <a:cs typeface="Times New Roman" pitchFamily="18" charset="0"/>
              </a:rPr>
              <a:t>It can assign priorities to the stations and to the types of data being transmitted.</a:t>
            </a:r>
          </a:p>
          <a:p>
            <a:r>
              <a:rPr lang="en-US" dirty="0" smtClean="0">
                <a:latin typeface="Times New Roman" pitchFamily="18" charset="0"/>
                <a:cs typeface="Times New Roman" pitchFamily="18" charset="0"/>
              </a:rPr>
              <a:t>The token must be monitored to see if it has</a:t>
            </a:r>
          </a:p>
          <a:p>
            <a:pPr>
              <a:buNone/>
            </a:pPr>
            <a:r>
              <a:rPr lang="en-US" dirty="0" smtClean="0">
                <a:latin typeface="Times New Roman" pitchFamily="18" charset="0"/>
                <a:cs typeface="Times New Roman" pitchFamily="18" charset="0"/>
              </a:rPr>
              <a:t>	not been lost or destroyed.</a:t>
            </a:r>
          </a:p>
          <a:p>
            <a:pPr>
              <a:buNone/>
            </a:pP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dirty="0" smtClean="0">
                <a:latin typeface="Times New Roman" pitchFamily="18" charset="0"/>
                <a:cs typeface="Times New Roman" pitchFamily="18" charset="0"/>
              </a:rPr>
              <a:t>Logical Ring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715000"/>
          </a:xfrm>
        </p:spPr>
        <p:txBody>
          <a:bodyPr/>
          <a:lstStyle/>
          <a:p>
            <a:r>
              <a:rPr lang="en-US" dirty="0" smtClean="0">
                <a:latin typeface="Times New Roman" pitchFamily="18" charset="0"/>
                <a:cs typeface="Times New Roman" pitchFamily="18" charset="0"/>
              </a:rPr>
              <a:t>In a token-passing network, stations do not have to be physically connected in a ring it’s logical one.</a:t>
            </a:r>
          </a:p>
          <a:p>
            <a:endParaRPr lang="en-US"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1004594" y="2438400"/>
            <a:ext cx="7148806" cy="4419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4525963"/>
          </a:xfrm>
        </p:spPr>
        <p:txBody>
          <a:bodyPr/>
          <a:lstStyle/>
          <a:p>
            <a:r>
              <a:rPr lang="en-US" dirty="0" smtClean="0">
                <a:latin typeface="Times New Roman" pitchFamily="18" charset="0"/>
                <a:cs typeface="Times New Roman" pitchFamily="18" charset="0"/>
              </a:rPr>
              <a:t>The high-speed Token Ring networks called </a:t>
            </a:r>
            <a:r>
              <a:rPr lang="en-US" i="1" dirty="0" smtClean="0">
                <a:latin typeface="Times New Roman" pitchFamily="18" charset="0"/>
                <a:cs typeface="Times New Roman" pitchFamily="18" charset="0"/>
              </a:rPr>
              <a:t>FDDI (Fiber Distributed Data Interface) and CDDI (Copper Distributed Data Interface).</a:t>
            </a:r>
          </a:p>
          <a:p>
            <a:endParaRPr lang="en-US" i="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Token Bus LAN, standardized by IEEE.</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Token Ring LAN designed by IBM.</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CHANNELIZATION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754563"/>
          </a:xfrm>
        </p:spPr>
        <p:txBody>
          <a:bodyPr/>
          <a:lstStyle/>
          <a:p>
            <a:r>
              <a:rPr lang="en-US" dirty="0" smtClean="0">
                <a:latin typeface="Times New Roman" pitchFamily="18" charset="0"/>
                <a:cs typeface="Times New Roman" pitchFamily="18" charset="0"/>
              </a:rPr>
              <a:t>Channelization is a multiple-access method in which the bandwidth of a link is shared in time, frequency, or through code, among different stations. </a:t>
            </a:r>
          </a:p>
          <a:p>
            <a:r>
              <a:rPr lang="en-US" dirty="0" smtClean="0">
                <a:latin typeface="Times New Roman" pitchFamily="18" charset="0"/>
                <a:cs typeface="Times New Roman" pitchFamily="18" charset="0"/>
              </a:rPr>
              <a:t>The three channelization protocols are: 			FDMA</a:t>
            </a:r>
          </a:p>
          <a:p>
            <a:pPr>
              <a:buNone/>
            </a:pPr>
            <a:r>
              <a:rPr lang="en-US" dirty="0" smtClean="0">
                <a:latin typeface="Times New Roman" pitchFamily="18" charset="0"/>
                <a:cs typeface="Times New Roman" pitchFamily="18" charset="0"/>
              </a:rPr>
              <a:t>			TDMA </a:t>
            </a:r>
          </a:p>
          <a:p>
            <a:pPr>
              <a:buNone/>
            </a:pPr>
            <a:r>
              <a:rPr lang="en-US" dirty="0" smtClean="0">
                <a:latin typeface="Times New Roman" pitchFamily="18" charset="0"/>
                <a:cs typeface="Times New Roman" pitchFamily="18" charset="0"/>
              </a:rPr>
              <a:t>			CDMA.</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dirty="0" smtClean="0">
                <a:latin typeface="Times New Roman" pitchFamily="18" charset="0"/>
                <a:cs typeface="Times New Roman" pitchFamily="18" charset="0"/>
              </a:rPr>
              <a:t>FDMA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914400"/>
            <a:ext cx="8915400" cy="5943600"/>
          </a:xfrm>
        </p:spPr>
        <p:txBody>
          <a:bodyPr>
            <a:normAutofit/>
          </a:bodyPr>
          <a:lstStyle/>
          <a:p>
            <a:r>
              <a:rPr lang="en-US" dirty="0" smtClean="0">
                <a:latin typeface="Times New Roman" pitchFamily="18" charset="0"/>
                <a:cs typeface="Times New Roman" pitchFamily="18" charset="0"/>
              </a:rPr>
              <a:t>FDMA, is an access method in the data-link layer.</a:t>
            </a:r>
          </a:p>
          <a:p>
            <a:r>
              <a:rPr lang="en-US" dirty="0" smtClean="0">
                <a:latin typeface="Times New Roman" pitchFamily="18" charset="0"/>
                <a:cs typeface="Times New Roman" pitchFamily="18" charset="0"/>
              </a:rPr>
              <a:t>The available bandwidth is divided into frequency bands.</a:t>
            </a:r>
          </a:p>
          <a:p>
            <a:r>
              <a:rPr lang="en-US" dirty="0" smtClean="0">
                <a:latin typeface="Times New Roman" pitchFamily="18" charset="0"/>
                <a:cs typeface="Times New Roman" pitchFamily="18" charset="0"/>
              </a:rPr>
              <a:t>Each station is allocated a band to send its data.</a:t>
            </a:r>
          </a:p>
          <a:p>
            <a:r>
              <a:rPr lang="en-US" dirty="0" smtClean="0">
                <a:latin typeface="Times New Roman" pitchFamily="18" charset="0"/>
                <a:cs typeface="Times New Roman" pitchFamily="18" charset="0"/>
              </a:rPr>
              <a:t>The allocated bands are separated from one another by small </a:t>
            </a:r>
            <a:r>
              <a:rPr lang="en-US" i="1" dirty="0" smtClean="0">
                <a:latin typeface="Times New Roman" pitchFamily="18" charset="0"/>
                <a:cs typeface="Times New Roman" pitchFamily="18" charset="0"/>
              </a:rPr>
              <a:t>guard bands t</a:t>
            </a:r>
            <a:r>
              <a:rPr lang="en-US" dirty="0" smtClean="0">
                <a:latin typeface="Times New Roman" pitchFamily="18" charset="0"/>
                <a:cs typeface="Times New Roman" pitchFamily="18" charset="0"/>
              </a:rPr>
              <a:t>o prevent  interferences.</a:t>
            </a:r>
          </a:p>
          <a:p>
            <a:r>
              <a:rPr lang="en-US" dirty="0" smtClean="0">
                <a:latin typeface="Times New Roman" pitchFamily="18" charset="0"/>
                <a:cs typeface="Times New Roman" pitchFamily="18" charset="0"/>
              </a:rPr>
              <a:t>The channels that are combined is low-pass. The multiplexer modulates the signals, combines them, and creates a </a:t>
            </a:r>
            <a:r>
              <a:rPr lang="en-US" dirty="0" err="1" smtClean="0">
                <a:latin typeface="Times New Roman" pitchFamily="18" charset="0"/>
                <a:cs typeface="Times New Roman" pitchFamily="18" charset="0"/>
              </a:rPr>
              <a:t>bandpass</a:t>
            </a:r>
            <a:r>
              <a:rPr lang="en-US" dirty="0" smtClean="0">
                <a:latin typeface="Times New Roman" pitchFamily="18" charset="0"/>
                <a:cs typeface="Times New Roman" pitchFamily="18" charset="0"/>
              </a:rPr>
              <a:t> signal.</a:t>
            </a:r>
          </a:p>
          <a:p>
            <a:r>
              <a:rPr lang="en-US" dirty="0" smtClean="0">
                <a:latin typeface="Times New Roman" pitchFamily="18" charset="0"/>
                <a:cs typeface="Times New Roman" pitchFamily="18" charset="0"/>
              </a:rPr>
              <a:t>This  signal must be created in the allocated band</a:t>
            </a:r>
            <a:r>
              <a:rPr lang="en-US" dirty="0" smtClean="0"/>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381000" y="457200"/>
            <a:ext cx="8382000" cy="6019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dirty="0" smtClean="0">
                <a:latin typeface="Times New Roman" pitchFamily="18" charset="0"/>
                <a:cs typeface="Times New Roman" pitchFamily="18" charset="0"/>
              </a:rPr>
              <a:t>TDMA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990600"/>
            <a:ext cx="8915400" cy="5867400"/>
          </a:xfrm>
        </p:spPr>
        <p:txBody>
          <a:bodyPr>
            <a:normAutofit/>
          </a:bodyPr>
          <a:lstStyle/>
          <a:p>
            <a:r>
              <a:rPr lang="en-US" dirty="0" smtClean="0">
                <a:latin typeface="Times New Roman" pitchFamily="18" charset="0"/>
                <a:cs typeface="Times New Roman" pitchFamily="18" charset="0"/>
              </a:rPr>
              <a:t>TDMA, is an access method in the data-link layer</a:t>
            </a:r>
          </a:p>
          <a:p>
            <a:r>
              <a:rPr lang="en-US" dirty="0" smtClean="0">
                <a:latin typeface="Times New Roman" pitchFamily="18" charset="0"/>
                <a:cs typeface="Times New Roman" pitchFamily="18" charset="0"/>
              </a:rPr>
              <a:t>The stations share the bandwidth of the channel in time.</a:t>
            </a:r>
          </a:p>
          <a:p>
            <a:r>
              <a:rPr lang="en-US" dirty="0" smtClean="0">
                <a:latin typeface="Times New Roman" pitchFamily="18" charset="0"/>
                <a:cs typeface="Times New Roman" pitchFamily="18" charset="0"/>
              </a:rPr>
              <a:t>Each station is allocated a time slot during which it can send data.</a:t>
            </a:r>
          </a:p>
          <a:p>
            <a:r>
              <a:rPr lang="en-US" dirty="0" smtClean="0">
                <a:latin typeface="Times New Roman" pitchFamily="18" charset="0"/>
                <a:cs typeface="Times New Roman" pitchFamily="18" charset="0"/>
              </a:rPr>
              <a:t>It has to achieving synchronization between the different stations.</a:t>
            </a:r>
          </a:p>
          <a:p>
            <a:r>
              <a:rPr lang="en-US" dirty="0" smtClean="0">
                <a:latin typeface="Times New Roman" pitchFamily="18" charset="0"/>
                <a:cs typeface="Times New Roman" pitchFamily="18" charset="0"/>
              </a:rPr>
              <a:t>Synchronization is done by having synchronization bits </a:t>
            </a:r>
            <a:r>
              <a:rPr lang="en-US" i="1" dirty="0" smtClean="0">
                <a:latin typeface="Times New Roman" pitchFamily="18" charset="0"/>
                <a:cs typeface="Times New Roman" pitchFamily="18" charset="0"/>
              </a:rPr>
              <a:t>at the beginning of each slot.</a:t>
            </a:r>
            <a:endParaRPr lang="en-US" dirty="0" smtClean="0">
              <a:latin typeface="Times New Roman" pitchFamily="18" charset="0"/>
              <a:cs typeface="Times New Roman" pitchFamily="18" charset="0"/>
            </a:endParaRPr>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304800" y="762000"/>
            <a:ext cx="8839199" cy="52443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smtClean="0">
                <a:latin typeface="Times New Roman" pitchFamily="18" charset="0"/>
                <a:cs typeface="Times New Roman" pitchFamily="18" charset="0"/>
              </a:rPr>
              <a:t>CDMA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0" y="838200"/>
            <a:ext cx="9067800" cy="5287963"/>
          </a:xfrm>
        </p:spPr>
        <p:txBody>
          <a:bodyPr/>
          <a:lstStyle/>
          <a:p>
            <a:r>
              <a:rPr lang="en-US" dirty="0" smtClean="0">
                <a:latin typeface="Times New Roman" pitchFamily="18" charset="0"/>
                <a:cs typeface="Times New Roman" pitchFamily="18" charset="0"/>
              </a:rPr>
              <a:t>In CDMA, one channel carries all transmissions simultaneously.</a:t>
            </a:r>
          </a:p>
          <a:p>
            <a:pPr>
              <a:buNone/>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It differs from FDMA, only one channel occupies the entire bandwidth of the link.</a:t>
            </a:r>
          </a:p>
          <a:p>
            <a:pPr>
              <a:buNone/>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It differs from TDMA, all stations can send data simultaneously, no timesharing</a:t>
            </a:r>
            <a:r>
              <a:rPr lang="en-US" dirty="0" smtClean="0"/>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dirty="0" smtClean="0">
                <a:latin typeface="Times New Roman" pitchFamily="18" charset="0"/>
                <a:cs typeface="Times New Roman" pitchFamily="18" charset="0"/>
              </a:rPr>
              <a:t>Idea</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762000"/>
            <a:ext cx="8686800" cy="5791200"/>
          </a:xfrm>
        </p:spPr>
        <p:txBody>
          <a:bodyPr/>
          <a:lstStyle/>
          <a:p>
            <a:r>
              <a:rPr lang="en-US" dirty="0" smtClean="0">
                <a:latin typeface="Times New Roman" pitchFamily="18" charset="0"/>
                <a:cs typeface="Times New Roman" pitchFamily="18" charset="0"/>
              </a:rPr>
              <a:t>The four stations 1, 2, 3, 4 are connected to the same channel.</a:t>
            </a:r>
          </a:p>
          <a:p>
            <a:r>
              <a:rPr lang="en-US" dirty="0" smtClean="0">
                <a:latin typeface="Times New Roman" pitchFamily="18" charset="0"/>
                <a:cs typeface="Times New Roman" pitchFamily="18" charset="0"/>
              </a:rPr>
              <a:t>The data from station 1 is d1, station 2 is d2, …..</a:t>
            </a:r>
          </a:p>
          <a:p>
            <a:r>
              <a:rPr lang="en-US" dirty="0" smtClean="0">
                <a:latin typeface="Times New Roman" pitchFamily="18" charset="0"/>
                <a:cs typeface="Times New Roman" pitchFamily="18" charset="0"/>
              </a:rPr>
              <a:t>The code to first station is </a:t>
            </a:r>
            <a:r>
              <a:rPr lang="en-US" i="1" dirty="0" smtClean="0">
                <a:latin typeface="Times New Roman" pitchFamily="18" charset="0"/>
                <a:cs typeface="Times New Roman" pitchFamily="18" charset="0"/>
              </a:rPr>
              <a:t>c1, </a:t>
            </a:r>
            <a:r>
              <a:rPr lang="en-US" dirty="0" smtClean="0">
                <a:latin typeface="Times New Roman" pitchFamily="18" charset="0"/>
                <a:cs typeface="Times New Roman" pitchFamily="18" charset="0"/>
              </a:rPr>
              <a:t>second is c2,……</a:t>
            </a:r>
          </a:p>
          <a:p>
            <a:r>
              <a:rPr lang="en-US" dirty="0" smtClean="0">
                <a:latin typeface="Times New Roman" pitchFamily="18" charset="0"/>
                <a:cs typeface="Times New Roman" pitchFamily="18" charset="0"/>
              </a:rPr>
              <a:t>The assigned codes have two properties.</a:t>
            </a:r>
          </a:p>
          <a:p>
            <a:pPr>
              <a:buNone/>
            </a:pPr>
            <a:r>
              <a:rPr lang="en-US" dirty="0" smtClean="0">
                <a:latin typeface="Times New Roman" pitchFamily="18" charset="0"/>
                <a:cs typeface="Times New Roman" pitchFamily="18" charset="0"/>
              </a:rPr>
              <a:t>		1. Multiply each code by another, get 0.</a:t>
            </a:r>
          </a:p>
          <a:p>
            <a:pPr>
              <a:buNone/>
            </a:pPr>
            <a:r>
              <a:rPr lang="en-US" dirty="0" smtClean="0">
                <a:latin typeface="Times New Roman" pitchFamily="18" charset="0"/>
                <a:cs typeface="Times New Roman" pitchFamily="18" charset="0"/>
              </a:rPr>
              <a:t>		2. Multiply each code by itself, get 4 			    (the number of stations).</a:t>
            </a:r>
          </a:p>
          <a:p>
            <a:pPr>
              <a:buNone/>
            </a:pPr>
            <a:endParaRPr lang="en-US" dirty="0" smtClean="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pic>
        <p:nvPicPr>
          <p:cNvPr id="5" name="Picture 2"/>
          <p:cNvPicPr>
            <a:picLocks noChangeAspect="1" noChangeArrowheads="1"/>
          </p:cNvPicPr>
          <p:nvPr/>
        </p:nvPicPr>
        <p:blipFill>
          <a:blip r:embed="rId2" cstate="print"/>
          <a:srcRect/>
          <a:stretch>
            <a:fillRect/>
          </a:stretch>
        </p:blipFill>
        <p:spPr bwMode="auto">
          <a:xfrm>
            <a:off x="304800" y="5486401"/>
            <a:ext cx="8534400" cy="99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Grp="1" noChangeAspect="1" noChangeArrowheads="1"/>
          </p:cNvPicPr>
          <p:nvPr>
            <p:ph idx="1"/>
          </p:nvPr>
        </p:nvPicPr>
        <p:blipFill>
          <a:blip r:embed="rId2" cstate="print"/>
          <a:srcRect/>
          <a:stretch>
            <a:fillRect/>
          </a:stretch>
        </p:blipFill>
        <p:spPr bwMode="auto">
          <a:xfrm>
            <a:off x="457200" y="609600"/>
            <a:ext cx="8153399" cy="6019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dirty="0" smtClean="0">
                <a:latin typeface="Times New Roman" pitchFamily="18" charset="0"/>
                <a:cs typeface="Times New Roman" pitchFamily="18" charset="0"/>
              </a:rPr>
              <a:t>Chips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304800" y="838200"/>
            <a:ext cx="8382000" cy="5638800"/>
          </a:xfrm>
        </p:spPr>
        <p:txBody>
          <a:bodyPr>
            <a:normAutofit/>
          </a:bodyPr>
          <a:lstStyle/>
          <a:p>
            <a:r>
              <a:rPr lang="en-US" dirty="0" smtClean="0">
                <a:latin typeface="Times New Roman" pitchFamily="18" charset="0"/>
                <a:cs typeface="Times New Roman" pitchFamily="18" charset="0"/>
              </a:rPr>
              <a:t>CDMA is based on coding theory.</a:t>
            </a:r>
          </a:p>
          <a:p>
            <a:r>
              <a:rPr lang="en-US" dirty="0" smtClean="0">
                <a:latin typeface="Times New Roman" pitchFamily="18" charset="0"/>
                <a:cs typeface="Times New Roman" pitchFamily="18" charset="0"/>
              </a:rPr>
              <a:t>Each station is assigned a code, which is a sequence of numbers called chips.</a:t>
            </a:r>
          </a:p>
          <a:p>
            <a:r>
              <a:rPr lang="en-US" dirty="0" smtClean="0">
                <a:latin typeface="Times New Roman" pitchFamily="18" charset="0"/>
                <a:cs typeface="Times New Roman" pitchFamily="18" charset="0"/>
              </a:rPr>
              <a:t>Below is the chip sequence numbers for the  code.</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i="1" dirty="0" smtClean="0"/>
          </a:p>
        </p:txBody>
      </p:sp>
      <p:pic>
        <p:nvPicPr>
          <p:cNvPr id="7" name="Picture 2"/>
          <p:cNvPicPr>
            <a:picLocks noChangeAspect="1" noChangeArrowheads="1"/>
          </p:cNvPicPr>
          <p:nvPr/>
        </p:nvPicPr>
        <p:blipFill>
          <a:blip r:embed="rId2" cstate="print"/>
          <a:srcRect/>
          <a:stretch>
            <a:fillRect/>
          </a:stretch>
        </p:blipFill>
        <p:spPr bwMode="auto">
          <a:xfrm>
            <a:off x="457200" y="3810000"/>
            <a:ext cx="7924800" cy="213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8610600" cy="6858000"/>
          </a:xfrm>
        </p:spPr>
        <p:txBody>
          <a:bodyPr>
            <a:normAutofit lnSpcReduction="10000"/>
          </a:bodyPr>
          <a:lstStyle/>
          <a:p>
            <a:r>
              <a:rPr lang="en-US" dirty="0" smtClean="0">
                <a:latin typeface="Times New Roman" pitchFamily="18" charset="0"/>
                <a:cs typeface="Times New Roman" pitchFamily="18" charset="0"/>
              </a:rPr>
              <a:t>The orthogonal sequences has the following properties:</a:t>
            </a:r>
          </a:p>
          <a:p>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Each sequence is made of N elements, where N is the number of stations.</a:t>
            </a:r>
          </a:p>
          <a:p>
            <a:pPr marL="514350" indent="-514350">
              <a:buFont typeface="+mj-lt"/>
              <a:buAutoNum type="arabicPeriod"/>
            </a:pPr>
            <a:r>
              <a:rPr lang="en-US" dirty="0" smtClean="0">
                <a:latin typeface="Times New Roman" pitchFamily="18" charset="0"/>
                <a:cs typeface="Times New Roman" pitchFamily="18" charset="0"/>
              </a:rPr>
              <a:t>If we multiply a sequence by a number, every element in the sequence is multiplied by that element(scalar).</a:t>
            </a:r>
          </a:p>
          <a:p>
            <a:pPr marL="514350" indent="-514350">
              <a:buFont typeface="+mj-lt"/>
              <a:buAutoNum type="arabicPeriod"/>
            </a:pPr>
            <a:endParaRPr lang="en-US" dirty="0" smtClean="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If we multiply two equal sequences, element by element, get N, where N is the number of elements in each sequence. This is called the inner product of two equal sequences.</a:t>
            </a:r>
          </a:p>
          <a:p>
            <a:pPr marL="514350" indent="-514350">
              <a:buFont typeface="+mj-lt"/>
              <a:buAutoNum type="arabicPeriod"/>
            </a:pPr>
            <a:endParaRPr lang="en-US" dirty="0" smtClean="0">
              <a:latin typeface="Times New Roman" pitchFamily="18" charset="0"/>
              <a:cs typeface="Times New Roman" pitchFamily="18" charset="0"/>
            </a:endParaRPr>
          </a:p>
          <a:p>
            <a:pPr>
              <a:buNone/>
            </a:pPr>
            <a:endParaRPr lang="en-US" i="1" dirty="0" smtClean="0"/>
          </a:p>
          <a:p>
            <a:pPr>
              <a:buNone/>
            </a:pPr>
            <a:endParaRPr lang="en-US" i="1" dirty="0" smtClean="0"/>
          </a:p>
          <a:p>
            <a:pPr>
              <a:buNone/>
            </a:pPr>
            <a:endParaRPr lang="en-US" dirty="0" smtClean="0">
              <a:latin typeface="Times New Roman" pitchFamily="18" charset="0"/>
              <a:cs typeface="Times New Roman" pitchFamily="18" charset="0"/>
            </a:endParaRPr>
          </a:p>
          <a:p>
            <a:endParaRPr lang="en-US" dirty="0"/>
          </a:p>
        </p:txBody>
      </p:sp>
      <p:pic>
        <p:nvPicPr>
          <p:cNvPr id="2" name="Picture 1"/>
          <p:cNvPicPr>
            <a:picLocks noChangeAspect="1"/>
          </p:cNvPicPr>
          <p:nvPr/>
        </p:nvPicPr>
        <p:blipFill>
          <a:blip r:embed="rId2" cstate="print"/>
          <a:stretch>
            <a:fillRect/>
          </a:stretch>
        </p:blipFill>
        <p:spPr>
          <a:xfrm>
            <a:off x="2743200" y="3886200"/>
            <a:ext cx="4234584" cy="558113"/>
          </a:xfrm>
          <a:prstGeom prst="rect">
            <a:avLst/>
          </a:prstGeom>
        </p:spPr>
      </p:pic>
      <p:pic>
        <p:nvPicPr>
          <p:cNvPr id="3" name="Picture 2"/>
          <p:cNvPicPr>
            <a:picLocks noChangeAspect="1"/>
          </p:cNvPicPr>
          <p:nvPr/>
        </p:nvPicPr>
        <p:blipFill>
          <a:blip r:embed="rId3" cstate="print"/>
          <a:stretch>
            <a:fillRect/>
          </a:stretch>
        </p:blipFill>
        <p:spPr>
          <a:xfrm>
            <a:off x="2057400" y="6318913"/>
            <a:ext cx="5310726" cy="53340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686800" cy="4953000"/>
          </a:xfrm>
        </p:spPr>
        <p:txBody>
          <a:bodyPr/>
          <a:lstStyle/>
          <a:p>
            <a:pPr marL="514350" indent="-514350">
              <a:buAutoNum type="arabicPeriod" startAt="4"/>
            </a:pPr>
            <a:r>
              <a:rPr lang="en-US" dirty="0" smtClean="0">
                <a:latin typeface="Times New Roman" pitchFamily="18" charset="0"/>
                <a:cs typeface="Times New Roman" pitchFamily="18" charset="0"/>
              </a:rPr>
              <a:t>If we multiply two different sequences, element by element, get 0. This is called the inner product of two different sequences.</a:t>
            </a:r>
          </a:p>
          <a:p>
            <a:pPr marL="514350" indent="-514350">
              <a:buAutoNum type="arabicPeriod" startAt="4"/>
            </a:pPr>
            <a:endParaRPr lang="en-US" dirty="0" smtClean="0">
              <a:latin typeface="Times New Roman" pitchFamily="18" charset="0"/>
              <a:cs typeface="Times New Roman" pitchFamily="18" charset="0"/>
            </a:endParaRPr>
          </a:p>
          <a:p>
            <a:pPr marL="514350" indent="-514350">
              <a:buAutoNum type="arabicPeriod" startAt="4"/>
            </a:pPr>
            <a:endParaRPr lang="en-US" dirty="0" smtClean="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5.	Adding two sequences means adding the corresponding elements. The result is</a:t>
            </a:r>
          </a:p>
          <a:p>
            <a:pPr marL="514350" indent="-514350">
              <a:buNone/>
            </a:pPr>
            <a:r>
              <a:rPr lang="en-US" dirty="0" smtClean="0">
                <a:latin typeface="Times New Roman" pitchFamily="18" charset="0"/>
                <a:cs typeface="Times New Roman" pitchFamily="18" charset="0"/>
              </a:rPr>
              <a:t>	another sequence.</a:t>
            </a:r>
          </a:p>
          <a:p>
            <a:pPr>
              <a:buNone/>
            </a:pPr>
            <a:endParaRPr lang="en-US" dirty="0"/>
          </a:p>
        </p:txBody>
      </p:sp>
      <p:pic>
        <p:nvPicPr>
          <p:cNvPr id="2" name="Picture 1"/>
          <p:cNvPicPr>
            <a:picLocks noChangeAspect="1"/>
          </p:cNvPicPr>
          <p:nvPr/>
        </p:nvPicPr>
        <p:blipFill>
          <a:blip r:embed="rId2" cstate="print"/>
          <a:stretch>
            <a:fillRect/>
          </a:stretch>
        </p:blipFill>
        <p:spPr>
          <a:xfrm>
            <a:off x="2166907" y="2126284"/>
            <a:ext cx="4962586" cy="746001"/>
          </a:xfrm>
          <a:prstGeom prst="rect">
            <a:avLst/>
          </a:prstGeom>
        </p:spPr>
      </p:pic>
      <p:pic>
        <p:nvPicPr>
          <p:cNvPr id="4" name="Picture 3"/>
          <p:cNvPicPr>
            <a:picLocks noChangeAspect="1"/>
          </p:cNvPicPr>
          <p:nvPr/>
        </p:nvPicPr>
        <p:blipFill>
          <a:blip r:embed="rId3" cstate="print"/>
          <a:stretch>
            <a:fillRect/>
          </a:stretch>
        </p:blipFill>
        <p:spPr>
          <a:xfrm>
            <a:off x="2166907" y="5257800"/>
            <a:ext cx="5189405" cy="638449"/>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smtClean="0">
                <a:latin typeface="Times New Roman" pitchFamily="18" charset="0"/>
                <a:cs typeface="Times New Roman" pitchFamily="18" charset="0"/>
              </a:rPr>
              <a:t>Data Representation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135563"/>
          </a:xfrm>
        </p:spPr>
        <p:txBody>
          <a:bodyPr/>
          <a:lstStyle/>
          <a:p>
            <a:pPr>
              <a:buNone/>
            </a:pPr>
            <a:r>
              <a:rPr lang="en-US" dirty="0" smtClean="0">
                <a:latin typeface="Times New Roman" pitchFamily="18" charset="0"/>
                <a:cs typeface="Times New Roman" pitchFamily="18" charset="0"/>
              </a:rPr>
              <a:t>The rules for encoding: </a:t>
            </a:r>
          </a:p>
          <a:p>
            <a:r>
              <a:rPr lang="en-US" dirty="0" smtClean="0">
                <a:latin typeface="Times New Roman" pitchFamily="18" charset="0"/>
                <a:cs typeface="Times New Roman" pitchFamily="18" charset="0"/>
              </a:rPr>
              <a:t>If a station needs to send a 0 bit, it encodes it as −1.</a:t>
            </a:r>
          </a:p>
          <a:p>
            <a:r>
              <a:rPr lang="en-US" dirty="0" smtClean="0">
                <a:latin typeface="Times New Roman" pitchFamily="18" charset="0"/>
                <a:cs typeface="Times New Roman" pitchFamily="18" charset="0"/>
              </a:rPr>
              <a:t>If it needs to send a 1 bit, it encodes it as +1. </a:t>
            </a:r>
          </a:p>
          <a:p>
            <a:r>
              <a:rPr lang="en-US" dirty="0" smtClean="0">
                <a:latin typeface="Times New Roman" pitchFamily="18" charset="0"/>
                <a:cs typeface="Times New Roman" pitchFamily="18" charset="0"/>
              </a:rPr>
              <a:t>When a station is idle, it sends no signal, which is interpreted as a 0.</a:t>
            </a:r>
          </a:p>
          <a:p>
            <a:pPr>
              <a:buNone/>
            </a:pP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143000" y="4495800"/>
            <a:ext cx="6934200" cy="1285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dirty="0" smtClean="0">
                <a:latin typeface="Times New Roman" pitchFamily="18" charset="0"/>
                <a:cs typeface="Times New Roman" pitchFamily="18" charset="0"/>
              </a:rPr>
              <a:t>Encoding and Decoding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304800" y="990600"/>
            <a:ext cx="8382000" cy="5715000"/>
          </a:xfrm>
        </p:spPr>
        <p:txBody>
          <a:bodyPr/>
          <a:lstStyle/>
          <a:p>
            <a:r>
              <a:rPr lang="en-US" dirty="0" smtClean="0">
                <a:latin typeface="Times New Roman" pitchFamily="18" charset="0"/>
                <a:cs typeface="Times New Roman" pitchFamily="18" charset="0"/>
              </a:rPr>
              <a:t>The stations 1 and 2 are sending a 0 bit and channel 4 is sending a 1 bit. Station 3 is silent.</a:t>
            </a:r>
          </a:p>
          <a:p>
            <a:r>
              <a:rPr lang="en-US" dirty="0" smtClean="0">
                <a:latin typeface="Times New Roman" pitchFamily="18" charset="0"/>
                <a:cs typeface="Times New Roman" pitchFamily="18" charset="0"/>
              </a:rPr>
              <a:t> The data at the sender site are translated to −1, −1, 0, and +1.</a:t>
            </a:r>
          </a:p>
          <a:p>
            <a:r>
              <a:rPr lang="en-US" dirty="0" smtClean="0">
                <a:latin typeface="Times New Roman" pitchFamily="18" charset="0"/>
                <a:cs typeface="Times New Roman" pitchFamily="18" charset="0"/>
              </a:rPr>
              <a:t>Each station multiplies with the corresponding number by its chip(unique).</a:t>
            </a:r>
          </a:p>
          <a:p>
            <a:r>
              <a:rPr lang="en-US" dirty="0" smtClean="0">
                <a:latin typeface="Times New Roman" pitchFamily="18" charset="0"/>
                <a:cs typeface="Times New Roman" pitchFamily="18" charset="0"/>
              </a:rPr>
              <a:t>The result is a new sequence which is sent to the channel.</a:t>
            </a:r>
          </a:p>
          <a:p>
            <a:r>
              <a:rPr lang="en-US" dirty="0" smtClean="0">
                <a:latin typeface="Times New Roman" pitchFamily="18" charset="0"/>
                <a:cs typeface="Times New Roman" pitchFamily="18" charset="0"/>
              </a:rPr>
              <a:t>The sequence on the channel is the sum of all four sequences.</a:t>
            </a:r>
          </a:p>
          <a:p>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228600" y="304800"/>
            <a:ext cx="8610600" cy="6324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dirty="0" smtClean="0">
                <a:latin typeface="Times New Roman" pitchFamily="18" charset="0"/>
                <a:cs typeface="Times New Roman" pitchFamily="18" charset="0"/>
              </a:rPr>
              <a:t>Signal Level</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838200"/>
            <a:ext cx="8458200" cy="5791200"/>
          </a:xfrm>
        </p:spPr>
        <p:txBody>
          <a:bodyPr>
            <a:normAutofit/>
          </a:bodyPr>
          <a:lstStyle/>
          <a:p>
            <a:r>
              <a:rPr lang="en-US" dirty="0" smtClean="0">
                <a:latin typeface="Times New Roman" pitchFamily="18" charset="0"/>
                <a:cs typeface="Times New Roman" pitchFamily="18" charset="0"/>
              </a:rPr>
              <a:t>Signals for each station using NRZ-L and the signal that is on the common channel.</a:t>
            </a:r>
          </a:p>
          <a:p>
            <a:r>
              <a:rPr lang="en-US" dirty="0" smtClean="0">
                <a:latin typeface="Times New Roman" pitchFamily="18" charset="0"/>
                <a:cs typeface="Times New Roman" pitchFamily="18" charset="0"/>
              </a:rPr>
              <a:t> How the station 3 can detect the data sent by station 2 by using the code for station 2.</a:t>
            </a:r>
          </a:p>
          <a:p>
            <a:r>
              <a:rPr lang="en-US" dirty="0" smtClean="0">
                <a:latin typeface="Times New Roman" pitchFamily="18" charset="0"/>
                <a:cs typeface="Times New Roman" pitchFamily="18" charset="0"/>
              </a:rPr>
              <a:t>The total data on the channel are multiplied by the signal representing station 2 chip code to get a new signal.</a:t>
            </a:r>
          </a:p>
          <a:p>
            <a:r>
              <a:rPr lang="en-US" dirty="0" smtClean="0">
                <a:latin typeface="Times New Roman" pitchFamily="18" charset="0"/>
                <a:cs typeface="Times New Roman" pitchFamily="18" charset="0"/>
              </a:rPr>
              <a:t>The station then integrates and adds to get the value −4, which is divided by 4 and interpreted as bit 0.</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a:p>
        </p:txBody>
      </p:sp>
      <p:pic>
        <p:nvPicPr>
          <p:cNvPr id="3" name="Picture 2"/>
          <p:cNvPicPr>
            <a:picLocks noChangeAspect="1"/>
          </p:cNvPicPr>
          <p:nvPr/>
        </p:nvPicPr>
        <p:blipFill>
          <a:blip r:embed="rId2" cstate="print"/>
          <a:stretch>
            <a:fillRect/>
          </a:stretch>
        </p:blipFill>
        <p:spPr>
          <a:xfrm>
            <a:off x="17060" y="519777"/>
            <a:ext cx="9144000" cy="5606386"/>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cstate="print"/>
          <a:stretch>
            <a:fillRect/>
          </a:stretch>
        </p:blipFill>
        <p:spPr>
          <a:xfrm>
            <a:off x="0" y="274638"/>
            <a:ext cx="9144000" cy="6126162"/>
          </a:xfrm>
          <a:prstGeom prst="rect">
            <a:avLst/>
          </a:prstGeom>
        </p:spPr>
      </p:pic>
    </p:spTree>
    <p:extLst>
      <p:ext uri="{BB962C8B-B14F-4D97-AF65-F5344CB8AC3E}">
        <p14:creationId xmlns="" xmlns:p14="http://schemas.microsoft.com/office/powerpoint/2010/main" val="41326459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5789</TotalTime>
  <Words>3220</Words>
  <Application>Microsoft Office PowerPoint</Application>
  <PresentationFormat>On-screen Show (4:3)</PresentationFormat>
  <Paragraphs>370</Paragraphs>
  <Slides>76</Slides>
  <Notes>0</Notes>
  <HiddenSlides>0</HiddenSlides>
  <MMClips>0</MMClips>
  <ScaleCrop>false</ScaleCrop>
  <HeadingPairs>
    <vt:vector size="4" baseType="variant">
      <vt:variant>
        <vt:lpstr>Theme</vt:lpstr>
      </vt:variant>
      <vt:variant>
        <vt:i4>1</vt:i4>
      </vt:variant>
      <vt:variant>
        <vt:lpstr>Slide Titles</vt:lpstr>
      </vt:variant>
      <vt:variant>
        <vt:i4>76</vt:i4>
      </vt:variant>
    </vt:vector>
  </HeadingPairs>
  <TitlesOfParts>
    <vt:vector size="77" baseType="lpstr">
      <vt:lpstr>Office Theme</vt:lpstr>
      <vt:lpstr>Module - 4</vt:lpstr>
      <vt:lpstr>Media Access Control</vt:lpstr>
      <vt:lpstr>Multiple-Access Protocols</vt:lpstr>
      <vt:lpstr>Random  Access</vt:lpstr>
      <vt:lpstr>Slide 5</vt:lpstr>
      <vt:lpstr>Pure ALOHA</vt:lpstr>
      <vt:lpstr>Slide 7</vt:lpstr>
      <vt:lpstr>Procedure for Pure ALOHA protocol</vt:lpstr>
      <vt:lpstr>Example 12.1</vt:lpstr>
      <vt:lpstr>Vulnerable time</vt:lpstr>
      <vt:lpstr>Slide 11</vt:lpstr>
      <vt:lpstr>Throughput</vt:lpstr>
      <vt:lpstr>Slide 13</vt:lpstr>
      <vt:lpstr>Problem</vt:lpstr>
      <vt:lpstr>Solution</vt:lpstr>
      <vt:lpstr>Slotted ALOHA</vt:lpstr>
      <vt:lpstr>Vulnerable time</vt:lpstr>
      <vt:lpstr>Throughput</vt:lpstr>
      <vt:lpstr>Problem </vt:lpstr>
      <vt:lpstr>Solution</vt:lpstr>
      <vt:lpstr>Carrier Sense Multiple Access(CSMA)</vt:lpstr>
      <vt:lpstr>Space/time model of a collision in CSMA</vt:lpstr>
      <vt:lpstr>Slide 23</vt:lpstr>
      <vt:lpstr>Vulnerable Time</vt:lpstr>
      <vt:lpstr>Slide 25</vt:lpstr>
      <vt:lpstr>Persistence Methods</vt:lpstr>
      <vt:lpstr> 1-Persistent </vt:lpstr>
      <vt:lpstr>Nonpersistent</vt:lpstr>
      <vt:lpstr>Slide 29</vt:lpstr>
      <vt:lpstr>p-Persistent</vt:lpstr>
      <vt:lpstr>Slide 31</vt:lpstr>
      <vt:lpstr>Flow diagram</vt:lpstr>
      <vt:lpstr>Carrier Sense Multiple Access with Collision Detection</vt:lpstr>
      <vt:lpstr>Slide 34</vt:lpstr>
      <vt:lpstr>Flow diagram for the CSMA/CD</vt:lpstr>
      <vt:lpstr>Slide 36</vt:lpstr>
      <vt:lpstr>Minimum Frame Size</vt:lpstr>
      <vt:lpstr>Energy Level</vt:lpstr>
      <vt:lpstr>Throughput</vt:lpstr>
      <vt:lpstr>Carrier sense multiple access with collision avoidance (CSMA/CA) </vt:lpstr>
      <vt:lpstr>Slide 41</vt:lpstr>
      <vt:lpstr>Interframe Space (IFS)</vt:lpstr>
      <vt:lpstr>Contention Window</vt:lpstr>
      <vt:lpstr>Slide 44</vt:lpstr>
      <vt:lpstr>Frame Exchange Time Line</vt:lpstr>
      <vt:lpstr>Slide 46</vt:lpstr>
      <vt:lpstr>Slide 47</vt:lpstr>
      <vt:lpstr>Network AllocationVector</vt:lpstr>
      <vt:lpstr>CONTROLLED ACCESS</vt:lpstr>
      <vt:lpstr>Reservation</vt:lpstr>
      <vt:lpstr>Example</vt:lpstr>
      <vt:lpstr>Polling</vt:lpstr>
      <vt:lpstr>Select</vt:lpstr>
      <vt:lpstr>Poll</vt:lpstr>
      <vt:lpstr>Slide 55</vt:lpstr>
      <vt:lpstr>Token Passing</vt:lpstr>
      <vt:lpstr>Slide 57</vt:lpstr>
      <vt:lpstr>Logical Ring</vt:lpstr>
      <vt:lpstr>Slide 59</vt:lpstr>
      <vt:lpstr>CHANNELIZATION</vt:lpstr>
      <vt:lpstr>FDMA</vt:lpstr>
      <vt:lpstr>Slide 62</vt:lpstr>
      <vt:lpstr>TDMA</vt:lpstr>
      <vt:lpstr>Slide 64</vt:lpstr>
      <vt:lpstr>CDMA</vt:lpstr>
      <vt:lpstr>Idea</vt:lpstr>
      <vt:lpstr>Slide 67</vt:lpstr>
      <vt:lpstr>Chips</vt:lpstr>
      <vt:lpstr>Slide 69</vt:lpstr>
      <vt:lpstr>Slide 70</vt:lpstr>
      <vt:lpstr>Data Representation</vt:lpstr>
      <vt:lpstr>Encoding and Decoding</vt:lpstr>
      <vt:lpstr>Slide 73</vt:lpstr>
      <vt:lpstr>Signal Level</vt:lpstr>
      <vt:lpstr>Slide 75</vt:lpstr>
      <vt:lpstr>Slide 76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SONY</cp:lastModifiedBy>
  <cp:revision>264</cp:revision>
  <dcterms:created xsi:type="dcterms:W3CDTF">2017-04-12T05:27:00Z</dcterms:created>
  <dcterms:modified xsi:type="dcterms:W3CDTF">2021-06-27T02:49:01Z</dcterms:modified>
</cp:coreProperties>
</file>